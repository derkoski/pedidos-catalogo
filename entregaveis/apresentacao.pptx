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996024d-4c60-22e0-9099-7fbe5f4eadc4}">
          <p14:sldIdLst>
            <p14:sldId id="256"/>
          </p14:sldIdLst>
        </p14:section>
        <p14:section name="Problema" id="{d4855975-ac5f-c3ab-b0ad-e7280995e037}">
          <p14:sldIdLst>
            <p14:sldId id="257"/>
          </p14:sldIdLst>
        </p14:section>
        <p14:section name="Recomendação" id="{da64a016-73a3-2dde-42a7-ea53b52d7719}">
          <p14:sldIdLst>
            <p14:sldId id="258"/>
            <p14:sldId id="259"/>
          </p14:sldIdLst>
        </p14:section>
        <p14:section name="Arquitetura" id="{d5032cb3-82aa-c9a9-778e-3ca2e68f7fc5}">
          <p14:sldIdLst>
            <p14:sldId id="260"/>
            <p14:sldId id="261"/>
          </p14:sldIdLst>
        </p14:section>
        <p14:section name="Segurança e prova" id="{5cb40ada-05ee-c949-cd2a-d67a2e30cef0}">
          <p14:sldIdLst>
            <p14:sldId id="262"/>
            <p14:sldId id="263"/>
          </p14:sldIdLst>
        </p14:section>
        <p14:section name="Fechamento" id="{11f22920-2914-1067-6c2f-2abad080777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em 30 segundos: o desafio pede atender app, parceiros e um segundo país em 90 dias, com 10x de tráfego, 99,9% e p95 de 500 ms. A recomendação é evoluir o sistema atual em três ondas. O ponto mais arriscado já está provado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a P4 são falhas de consistência e latência que pioram com o volume. P5 e P6 não são bugs: são o que impede abrir para app, parceiros e o segundo país. A primeira entrega ataca P1, P2, P4 e P5.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reescrita e sem big bang. Cada onda tem um objetivo: parar de errar, escalar e abrir, expandir. Toda entrega tem convivência com o que existe, métrica antes e depois e rollback. Os poucos passos sem volta têm condição explícita no plano (doc 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o critério crítico do desafio: chamadas repetidas com a mesma chave não duplicam pedido, e a evolução de contrato não quebra o consumidor atual. As alternativas (separar o Catálogo, cache em lote, relay e broker) entram depois; nenhuma resolve a duplicidade sozinha.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tracejada é fronteira de confiança. A célula do País 2 só existe se o parecer jurídico exigir localização (ADR-005); se permitir transferência com salvaguardas, os pedidos do País 2 ficam no banco BR com a coluna country. Broker e notificador não são duplicados porque os eventos não têm dado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Bounded contexts com dono explícito do dado, inclusive do que cada um não possui. O único dado pessoal de Pedidos é o contato e endereço de entrega do pedido, copiado no momento da compra. Consistência forte só dentro do banco de Pedidos; o resto é eventual com janela e correção (doc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 model completo no doc 05 (T1 a T25, incluindo IA). A residência de dados do segundo país depende de parecer jurídico até o dia 30, por isso o ADR-005 está como Proposto: sem parecer, segue a opção mais segura (célula mínima).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fatia sobe a API com WebApplicationFactory e SQLite em arquivo temporário, com dados sintéticos. O SQLite prova a regra (UNIQUE e mesma transação), não o desempenho; o teste de corrida será repetido no banco de produção antes do canário.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dominante é a equipe; a infraestrutura é de 3 a 8% na primeira fase. A IA reduz esforço, não calendário, porque o prazo é ditado pelo rollout seguro. Detalhe e premissas no doc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recomendação e abrir para perguntas. Material completo: README (roteiro por critério), ADRs, threat model e plano 30/60/90.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Pedidos e Catálogo · Desafio COE Sênior – Arquitetura de Soluções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Pedidos e Catálogo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</a:rPr>
              <a:t>Evoluir sem reescrever, sem janela de indisponibilidade e sem quebrar quem já usa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FC2B0"/>
                </a:solidFill>
              </a:rPr>
              <a:t>90 dias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app, parceiros e 2º país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22244" y="30175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FC2B0"/>
                </a:solidFill>
              </a:rPr>
              <a:t>10x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3840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tráfego projetado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0175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FC2B0"/>
                </a:solidFill>
              </a:rPr>
              <a:t>99,9 %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3840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disponibilidade mensal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869451" y="30175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FC2B0"/>
                </a:solidFill>
              </a:rPr>
              <a:t>500 ms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869451" y="3840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p95 na criação de pedido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17434A"/>
          </a:solidFill>
          <a:ln w="12700">
            <a:solidFill>
              <a:srgbClr val="174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006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94B"/>
                </a:solidFill>
              </a:rPr>
              <a:t>Recomendação: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três ondas de 30/60/90 dias. A decisão mais arriscada (criar pedido sem duplicar e sem quebrar o contrato atual) já está provada em código.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9B4"/>
                </a:solidFill>
              </a:rPr>
              <a:t>Desafio técnico · COE Sênior – Arquitetura de Soluções · Rodrigo Derkoski · 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Quatro falhas que pioram com 10x e dois bloqueios para crescer</a:t>
            </a:r>
            <a:endParaRPr lang="en-US" sz="3000" dirty="0"/>
          </a:p>
        </p:txBody>
      </p:sp>
      <p:sp>
        <p:nvSpPr>
          <p:cNvPr id="3" name="card-P1"/>
          <p:cNvSpPr/>
          <p:nvPr/>
        </p:nvSpPr>
        <p:spPr>
          <a:xfrm>
            <a:off x="548640" y="13258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3738" y="16367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3738" y="16367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Retry sem chave de idempotência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Pedido e cobrança em dobro. Mais tráfego, mais timeout, mais retry</a:t>
            </a:r>
            <a:endParaRPr lang="en-US" sz="1400" dirty="0"/>
          </a:p>
        </p:txBody>
      </p:sp>
      <p:sp>
        <p:nvSpPr>
          <p:cNvPr id="9" name="card-P2"/>
          <p:cNvSpPr/>
          <p:nvPr/>
        </p:nvSpPr>
        <p:spPr>
          <a:xfrm>
            <a:off x="4338218" y="13258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73317" y="16367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73317" y="16367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1031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Evento fora da transação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Parceiro recebe evento de pedido que não existe, ou não recebe nada</a:t>
            </a:r>
            <a:endParaRPr lang="en-US" sz="1400" dirty="0"/>
          </a:p>
        </p:txBody>
      </p:sp>
      <p:sp>
        <p:nvSpPr>
          <p:cNvPr id="15" name="card-P3"/>
          <p:cNvSpPr/>
          <p:nvPr/>
        </p:nvSpPr>
        <p:spPr>
          <a:xfrm>
            <a:off x="8127797" y="13258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362895" y="16367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62895" y="16367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1031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N+1 síncrono no Catálogo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p95 cresce com o número de itens; Catálogo fora derruba Pedidos</a:t>
            </a:r>
            <a:endParaRPr lang="en-US" sz="1400" dirty="0"/>
          </a:p>
        </p:txBody>
      </p:sp>
      <p:sp>
        <p:nvSpPr>
          <p:cNvPr id="21" name="card-P4"/>
          <p:cNvSpPr/>
          <p:nvPr/>
        </p:nvSpPr>
        <p:spPr>
          <a:xfrm>
            <a:off x="548640" y="38404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83738" y="41513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3738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Médio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177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Sem snapshot de preço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 pedido "muda" quando o Catálogo muda. Sem auditoria</a:t>
            </a:r>
            <a:endParaRPr lang="en-US" sz="1400" dirty="0"/>
          </a:p>
        </p:txBody>
      </p:sp>
      <p:sp>
        <p:nvSpPr>
          <p:cNvPr id="27" name="card-P5"/>
          <p:cNvSpPr/>
          <p:nvPr/>
        </p:nvSpPr>
        <p:spPr>
          <a:xfrm>
            <a:off x="4338218" y="38404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2538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73317" y="41513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73317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Bloqueio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12538" y="46177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Sem versionamento de API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612538" y="52578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Abrir para app e parceiros arrisca quebrar o web atual</a:t>
            </a:r>
            <a:endParaRPr lang="en-US" sz="1400" dirty="0"/>
          </a:p>
        </p:txBody>
      </p:sp>
      <p:sp>
        <p:nvSpPr>
          <p:cNvPr id="33" name="card-P6"/>
          <p:cNvSpPr/>
          <p:nvPr/>
        </p:nvSpPr>
        <p:spPr>
          <a:xfrm>
            <a:off x="8127797" y="3840480"/>
            <a:ext cx="351525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02117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362895" y="4151376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62895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Bloqueio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02117" y="46177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Dado pessoal sem separação por país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52578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Impede a entrada no segundo país (residência de dados)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Recomendação: evoluir o sistema atual em três ondas</a:t>
            </a:r>
            <a:endParaRPr lang="en-US" sz="3000" dirty="0"/>
          </a:p>
        </p:txBody>
      </p:sp>
      <p:sp>
        <p:nvSpPr>
          <p:cNvPr id="3" name="onda-30"/>
          <p:cNvSpPr/>
          <p:nvPr/>
        </p:nvSpPr>
        <p:spPr>
          <a:xfrm>
            <a:off x="548640" y="1325880"/>
            <a:ext cx="3515258" cy="39776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47672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Parar de errar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Idempotency-Key no /v1 (opcional) e no /v2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Snapshot de preço e descrição no item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Evento gravado na outbox, na mesma transação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Observabilidade e SLOs; /v2 implantado, fechado</a:t>
            </a:r>
            <a:endParaRPr lang="en-US" sz="1500" dirty="0"/>
          </a:p>
        </p:txBody>
      </p:sp>
      <p:sp>
        <p:nvSpPr>
          <p:cNvPr id="9" name="onda-60"/>
          <p:cNvSpPr/>
          <p:nvPr/>
        </p:nvSpPr>
        <p:spPr>
          <a:xfrm>
            <a:off x="4338218" y="1325880"/>
            <a:ext cx="3515258" cy="39776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2538" y="160020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72658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572658" y="1947672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Escalar e abrir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6974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Catálogo em lote, com cache e circuit breaker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Relay da outbox e broker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Gateway com OAuth2 e quotas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 no /v2; webhooks com parceiros piloto</a:t>
            </a:r>
            <a:endParaRPr lang="en-US" sz="1500" dirty="0"/>
          </a:p>
        </p:txBody>
      </p:sp>
      <p:sp>
        <p:nvSpPr>
          <p:cNvPr id="15" name="onda-90"/>
          <p:cNvSpPr/>
          <p:nvPr/>
        </p:nvSpPr>
        <p:spPr>
          <a:xfrm>
            <a:off x="8127797" y="1325880"/>
            <a:ext cx="3515258" cy="39776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2117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2117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90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62237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62237" y="1947672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Expandir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6974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País 2: coluna de país ou célula mínima, conforme o parecer jurídico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Parceiros em produção, com quotas por plano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Depreciação do /v1 anunciada (≥ 6 meses)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Como cada entrega vai para produção: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atrás de feature flag, migração só aditiva, canário 5 → 25 → 100 % com critério de parada (p95 &gt; 500 ms ou 5xx &gt; 0,1 %). Rollback por flag em até 5 min.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Decisão crítica: criar pedido sem duplicar e sem quebrar ninguém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94B"/>
                </a:solidFill>
              </a:rPr>
              <a:t>O que entra em 30 dias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Idempotency-Key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780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mesma chave não cria outro pedido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986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/v1 intacto, /v2 novo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278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os dois lado a lado, mesmo backend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484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Snapshot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77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preço e descrição gravados no item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982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Outbox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27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</a:rPr>
              <a:t>pedido, chave e evento no mesmo COMMIT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37160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Quatro respostas possíveis na criação</a:t>
            </a:r>
            <a:endParaRPr lang="en-US" sz="1800" dirty="0"/>
          </a:p>
        </p:txBody>
      </p:sp>
      <p:sp>
        <p:nvSpPr>
          <p:cNvPr id="14" name="resp-0"/>
          <p:cNvSpPr/>
          <p:nvPr/>
        </p:nvSpPr>
        <p:spPr>
          <a:xfrm>
            <a:off x="6035040" y="1920240"/>
            <a:ext cx="56080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09397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0939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920240"/>
            <a:ext cx="3824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Chave nova: grava pedido, chave e outbox numa transação</a:t>
            </a:r>
            <a:endParaRPr lang="en-US" sz="1400" dirty="0"/>
          </a:p>
        </p:txBody>
      </p:sp>
      <p:sp>
        <p:nvSpPr>
          <p:cNvPr id="18" name="resp-1"/>
          <p:cNvSpPr/>
          <p:nvPr/>
        </p:nvSpPr>
        <p:spPr>
          <a:xfrm>
            <a:off x="6035040" y="2697480"/>
            <a:ext cx="56080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87121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871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201 replay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697480"/>
            <a:ext cx="3824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Mesma chave e mesmo payload: devolve o pedido original</a:t>
            </a:r>
            <a:endParaRPr lang="en-US" sz="1400" dirty="0"/>
          </a:p>
        </p:txBody>
      </p:sp>
      <p:sp>
        <p:nvSpPr>
          <p:cNvPr id="22" name="resp-2"/>
          <p:cNvSpPr/>
          <p:nvPr/>
        </p:nvSpPr>
        <p:spPr>
          <a:xfrm>
            <a:off x="6035040" y="3474720"/>
            <a:ext cx="56080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64845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6484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422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474720"/>
            <a:ext cx="3824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Mesma chave com outro payload: recusa, nada é gravado</a:t>
            </a:r>
            <a:endParaRPr lang="en-US" sz="1400" dirty="0"/>
          </a:p>
        </p:txBody>
      </p:sp>
      <p:sp>
        <p:nvSpPr>
          <p:cNvPr id="26" name="resp-3"/>
          <p:cNvSpPr/>
          <p:nvPr/>
        </p:nvSpPr>
        <p:spPr>
          <a:xfrm>
            <a:off x="6035040" y="4251960"/>
            <a:ext cx="56080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425696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44256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251960"/>
            <a:ext cx="3824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Corrida rara: o vencedor ainda não está visível; o cliente repete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502920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Duas chamadas simultâneas com a mesma chave: a UNIQUE barra a segunda, que relê e devolve o pedido original.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5778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Por que começar aqui: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ataca P1, P2, P4 e P5 sem infraestrutura nova e é pré-requisito do resto. Sem idempotência, todo retry futuro aumenta a duplicidade.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Arquitetura-alvo: o mesmo sistema, com fronteiras claras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737360" cy="4023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Internet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79476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Parceiro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920240" cy="40233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743200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Borda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011680"/>
            <a:ext cx="1645920" cy="256032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201168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WAF + 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TLS, OAuth2, quotas, roteia v1/v2 e por país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566160" cy="2514600"/>
          </a:xfrm>
          <a:prstGeom prst="roundRect">
            <a:avLst>
              <a:gd name="adj" fmla="val 218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983480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Célula BR · dado pessoal BR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56632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 Pedidos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idempotência, snapshot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Banco Pedidos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pedido, chave, outbox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743200"/>
            <a:ext cx="1600200" cy="86868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56632" y="274320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Cache Catálogo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TTL 60 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2743200"/>
            <a:ext cx="1600200" cy="86868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48272" y="274320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Relay da outbox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 reconciliação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977640"/>
            <a:ext cx="356616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98348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Célula País 2 · só se a lei exigir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4389120"/>
            <a:ext cx="329184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56632" y="438912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Mesmo código: API, banco, relay e cache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32520" y="1280160"/>
            <a:ext cx="2910535" cy="4023360"/>
          </a:xfrm>
          <a:prstGeom prst="roundRect">
            <a:avLst>
              <a:gd name="adj" fmla="val 1885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869680" y="1353312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Compartilhado · sem dado pessoal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69680" y="1691640"/>
            <a:ext cx="2636215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42832" y="1691640"/>
            <a:ext cx="24899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 Catálogo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leitura em lote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69680" y="2560320"/>
            <a:ext cx="2636215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42832" y="2560320"/>
            <a:ext cx="24899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Broker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eventos só com IDs e status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69680" y="3429000"/>
            <a:ext cx="2636215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42832" y="3429000"/>
            <a:ext cx="24899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Notificador de webhooks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HMAC, retry, DLQ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4297680"/>
            <a:ext cx="2636215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42832" y="4297680"/>
            <a:ext cx="24899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Observabilidade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OpenTelemetry, sem dado pessoal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103120" y="3127248"/>
            <a:ext cx="64008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4389120" y="2194560"/>
            <a:ext cx="594360" cy="274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389120" y="4114800"/>
            <a:ext cx="59436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83680" y="2121408"/>
            <a:ext cx="914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275320" y="2057400"/>
            <a:ext cx="59436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275320" y="2926080"/>
            <a:ext cx="594360" cy="24688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48640" y="54864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Dado pessoal não sai do país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Só Pedidos tem dado pessoal. Eventos, logs e Catálogo levam IDs.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338218" y="54864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Broker fora não para vendas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outbox acumula; a criação de pedido segue.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127797" y="54864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p95 cabe com folga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Pior caso 300 ms (Catálogo em lote, sem cache) contra a meta de 500 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Domínio: cada contexto é dono dos seus dados</a:t>
            </a:r>
            <a:endParaRPr lang="en-US" sz="3000" dirty="0"/>
          </a:p>
        </p:txBody>
      </p:sp>
      <p:pic>
        <p:nvPicPr>
          <p:cNvPr id="3" name="Image 0" descr="Mapa de contextos: Catálogo, Pedidos, Notificações, Acesso e Parceiros, Pagamento e Logís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2858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048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Pedidos (core)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possui pedido, itens com snapshot, status, chave e outbox. Não possui preço vigente nem cadastro do cliente.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é upstream: Pedidos copia o preço no momento da compra.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Pagamento e Logística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entram por camada anticorrupção.</a:t>
            </a:r>
            <a:endParaRPr lang="en-US" sz="1500" dirty="0"/>
          </a:p>
        </p:txBody>
      </p:sp>
      <p:sp>
        <p:nvSpPr>
          <p:cNvPr id="5" name="consistencia"/>
          <p:cNvSpPr/>
          <p:nvPr/>
        </p:nvSpPr>
        <p:spPr>
          <a:xfrm>
            <a:off x="6766560" y="1325880"/>
            <a:ext cx="4876495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0876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Regra de consistência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920240"/>
            <a:ext cx="4327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Forte só dentro do banco de Pedidos de um país. Fora dele, eventual, sempre com janela definida e um mecanismo de correção.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834640"/>
          <a:ext cx="4327855" cy="914400"/>
        </p:xfrm>
        <a:graphic>
          <a:graphicData uri="http://schemas.openxmlformats.org/drawingml/2006/table">
            <a:tbl>
              <a:tblPr/>
              <a:tblGrid>
                <a:gridCol w="1644585"/>
                <a:gridCol w="952128"/>
                <a:gridCol w="173114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Fluxo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Janela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Mecanismo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Pedido + chave + outbox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Forte (ACID)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mesma transação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Evento interno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5 min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relay + reconciliação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Webhook no parceiro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até 24 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retry, DLQ, GET de reconciliação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Preço do snapshot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60 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cache; catalogVersion no item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Segurança e LGPD: o dado pessoal fica onde precisa ficar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0" cy="484632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6FC2B0"/>
                </a:solidFill>
              </a:rPr>
              <a:t>25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ameaças mapeadas por STRIDE, em cada fronteira de confiança, com controle e prazo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B94B"/>
                </a:solidFill>
              </a:rPr>
              <a:t>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já provadas em teste: acesso a pedido de outro cliente (BOLA) e país forjado</a:t>
            </a:r>
            <a:endParaRPr lang="en-US" sz="1400" dirty="0"/>
          </a:p>
        </p:txBody>
      </p:sp>
      <p:sp>
        <p:nvSpPr>
          <p:cNvPr id="8" name="seg-0"/>
          <p:cNvSpPr/>
          <p:nvPr/>
        </p:nvSpPr>
        <p:spPr>
          <a:xfrm>
            <a:off x="3566160" y="1325880"/>
            <a:ext cx="390128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600200"/>
            <a:ext cx="335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Identidade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103120"/>
            <a:ext cx="335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OAuth2 client_credentials para parceiros, OIDC para web e app. Token de 15 min, escopos mínimos, segredos em cofre.</a:t>
            </a:r>
            <a:endParaRPr lang="en-US" sz="1400" dirty="0"/>
          </a:p>
        </p:txBody>
      </p:sp>
      <p:sp>
        <p:nvSpPr>
          <p:cNvPr id="11" name="seg-1"/>
          <p:cNvSpPr/>
          <p:nvPr/>
        </p:nvSpPr>
        <p:spPr>
          <a:xfrm>
            <a:off x="7741768" y="1325880"/>
            <a:ext cx="390128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16088" y="1600200"/>
            <a:ext cx="335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Autorização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016088" y="2103120"/>
            <a:ext cx="335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recurso, na API: parceiro só vê o pedido que criou (404 para o alheio). customerId vem do token, não do corpo.</a:t>
            </a:r>
            <a:endParaRPr lang="en-US" sz="1400" dirty="0"/>
          </a:p>
        </p:txBody>
      </p:sp>
      <p:sp>
        <p:nvSpPr>
          <p:cNvPr id="14" name="seg-2"/>
          <p:cNvSpPr/>
          <p:nvPr/>
        </p:nvSpPr>
        <p:spPr>
          <a:xfrm>
            <a:off x="3566160" y="3886200"/>
            <a:ext cx="390128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4160520"/>
            <a:ext cx="335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Proteção de dados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4663440"/>
            <a:ext cx="335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Pedidos guarda dado pessoal. Eventos, webhooks, logs e prompts de IA levam só IDs; mascaramento no coletor.</a:t>
            </a:r>
            <a:endParaRPr lang="en-US" sz="1400" dirty="0"/>
          </a:p>
        </p:txBody>
      </p:sp>
      <p:sp>
        <p:nvSpPr>
          <p:cNvPr id="17" name="seg-3"/>
          <p:cNvSpPr/>
          <p:nvPr/>
        </p:nvSpPr>
        <p:spPr>
          <a:xfrm>
            <a:off x="7741768" y="3886200"/>
            <a:ext cx="390128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16088" y="4160520"/>
            <a:ext cx="335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LGPD e residência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16088" y="4663440"/>
            <a:ext cx="335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Papéis definidos (parceiro controlador, plataforma operadora). Exclusão por pseudonimização. País 2: coluna ou célula, pelo parecer.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prova: um comando, 52 testes, sem dependência externa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teste prova que…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Mesma chave + mesmo payload → o pedido original, sem duplicar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positivo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Chamadas concorrentes com a mesma chave → um único pedido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positivo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Mesma chave + payload diferente → 422, nada gravado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negativo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Consumidor web atual cria e consulta no /v1 como antes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contrato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Evento gravado na outbox junto com o pedido; replay não gera evento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positivo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Cliente não lê pedido de outro; evento sem dado pessoal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segurança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25880"/>
            <a:ext cx="3779215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2588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51460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CI (GitHub Actions)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926080"/>
            <a:ext cx="37792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Spectral: lint das OpenAPI v1 e v2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AsyncAPI CLI: valida o evento de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oasdiff: barra quebra de contrato (com prova negativa)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NetArchTest: regras de camadas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ADRs no formato e exceções vencidas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Uso de IA: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prompts, validações e sugestões rejeitadas registrados em docs/uso-de-ia.md. Nada gerado entrou sem teste ou revisão; nenhum dado real ou segredo nos prompts.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Investimento da primeira fase e o que depende do cliente</a:t>
            </a:r>
            <a:endParaRPr lang="en-US" sz="3000" dirty="0"/>
          </a:p>
        </p:txBody>
      </p:sp>
      <p:sp>
        <p:nvSpPr>
          <p:cNvPr id="3" name="tile-0"/>
          <p:cNvSpPr/>
          <p:nvPr/>
        </p:nvSpPr>
        <p:spPr>
          <a:xfrm>
            <a:off x="548640" y="1325880"/>
            <a:ext cx="351525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~116 pessoa-dia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≈ R$ 93 mil de equipe em 30 dias (5,25 FTE)</a:t>
            </a:r>
            <a:endParaRPr lang="en-US" sz="1300" dirty="0"/>
          </a:p>
        </p:txBody>
      </p:sp>
      <p:sp>
        <p:nvSpPr>
          <p:cNvPr id="6" name="tile-1"/>
          <p:cNvSpPr/>
          <p:nvPr/>
        </p:nvSpPr>
        <p:spPr>
          <a:xfrm>
            <a:off x="4338218" y="1325880"/>
            <a:ext cx="351525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463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≈ R$ 79 mil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10312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com IA no desenvolvimento (−15 %); o prazo não muda</a:t>
            </a:r>
            <a:endParaRPr lang="en-US" sz="1300" dirty="0"/>
          </a:p>
        </p:txBody>
      </p:sp>
      <p:sp>
        <p:nvSpPr>
          <p:cNvPr id="9" name="tile-2"/>
          <p:cNvSpPr/>
          <p:nvPr/>
        </p:nvSpPr>
        <p:spPr>
          <a:xfrm>
            <a:off x="8127797" y="1325880"/>
            <a:ext cx="351525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463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≈ R$ 3 a 7,5 mil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10312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de infraestrutura na fase (ordem de grandeza)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Salários estimados por cargo; o custo real se fecha com os dados da empresa (folha, licenças, IA, tributos).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Riscos principais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5410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Tráfego real desconhecido: medir na semana 1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Regra de residência do País 2 indefinida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Consumidores atuais de eventos não mapeados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Web demorar a enviar a chave no /v1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329184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Decisões a validar com o cliente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33008" y="3794760"/>
            <a:ext cx="5410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Baseline de tráfego e contrato v1 real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País 2 e parecer jurídico até o dia 30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Preço do momento do pedido; cache de 60 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Retenção da chave de idempotência em 24 h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Nuvem, broker e gateway (critérios prontos)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Recomendação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6FC2B0"/>
          </a:solidFill>
          <a:ln w="12700">
            <a:solidFill>
              <a:srgbClr val="6FC2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28800"/>
            <a:ext cx="10042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Parar de errar: </a:t>
            </a:r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</a:rPr>
              <a:t>idempotência, snapshot e outbox, com o contrato atual intacto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777240" cy="777240"/>
          </a:xfrm>
          <a:prstGeom prst="ellipse">
            <a:avLst/>
          </a:prstGeom>
          <a:solidFill>
            <a:srgbClr val="6FC2B0"/>
          </a:solidFill>
          <a:ln w="12700">
            <a:solidFill>
              <a:srgbClr val="6FC2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60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10042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Escalar e abrir: </a:t>
            </a:r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</a:rPr>
              <a:t>Catálogo em lote, broker, gateway e app no /v2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777240" cy="777240"/>
          </a:xfrm>
          <a:prstGeom prst="ellipse">
            <a:avLst/>
          </a:prstGeom>
          <a:solidFill>
            <a:srgbClr val="6FC2B0"/>
          </a:solidFill>
          <a:ln w="12700">
            <a:solidFill>
              <a:srgbClr val="6FC2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90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931920"/>
            <a:ext cx="10042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Expandir: </a:t>
            </a:r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</a:rPr>
              <a:t>segundo país (célula só se a lei exigir) e parceiros em produção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2B94B"/>
                </a:solidFill>
              </a:rPr>
              <a:t>Sem reescrita, sem janela de indisponibilidade, e a decisão mais arriscada já está provada em código.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9B4"/>
                </a:solidFill>
              </a:rPr>
              <a:t>github.com/Derkoski/pedidos-catalogo · detalhes por critério no README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didos e Catalogo">
  <a:themeElements>
    <a:clrScheme name="Pedidos e Catalogo">
      <a:dk1>
        <a:srgbClr val="1B2B2E"/>
      </a:dk1>
      <a:lt1>
        <a:srgbClr val="FFFFFF"/>
      </a:lt1>
      <a:dk2>
        <a:srgbClr val="0F2E33"/>
      </a:dk2>
      <a:lt2>
        <a:srgbClr val="E8F1EF"/>
      </a:lt2>
      <a:accent1>
        <a:srgbClr val="155E57"/>
      </a:accent1>
      <a:accent2>
        <a:srgbClr val="C77F00"/>
      </a:accent2>
      <a:accent3>
        <a:srgbClr val="B3261E"/>
      </a:accent3>
      <a:accent4>
        <a:srgbClr val="5B6B6F"/>
      </a:accent4>
      <a:accent5>
        <a:srgbClr val="2F7D6D"/>
      </a:accent5>
      <a:accent6>
        <a:srgbClr val="FBF0DA"/>
      </a:accent6>
      <a:hlink>
        <a:srgbClr val="155E57"/>
      </a:hlink>
      <a:folHlink>
        <a:srgbClr val="5B6B6F"/>
      </a:folHlink>
    </a:clrScheme>
    <a:fontScheme name="Pedidos e Catalog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Pedidos e Catálogo – Evolução arquitetural</dc:title>
  <dc:subject>PptxGenJS Presentation</dc:subject>
  <dc:creator>Rodrigo Derkoski</dc:creator>
  <cp:lastModifiedBy>Rodrigo Derkoski</cp:lastModifiedBy>
  <cp:revision>1</cp:revision>
  <dcterms:created xsi:type="dcterms:W3CDTF">2026-10-22T20:46:25Z</dcterms:created>
  <dcterms:modified xsi:type="dcterms:W3CDTF">2026-10-22T20:46:25Z</dcterms:modified>
</cp:coreProperties>
</file>