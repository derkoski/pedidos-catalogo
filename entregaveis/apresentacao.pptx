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notesMasterIdLst>
    <p:notesMasterId r:id="rId2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UDO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000" b="1" dirty="0">
                <a:solidFill>
                  <a:srgbClr val="14232B"/>
                </a:solidFill>
              </a:defRPr>
            </a:lvl1pPr>
          </a:lstStyle>
          <a:p>
            <a:pPr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6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ESCURO">
    <p:bg>
      <p:bgPr>
        <a:solidFill>
          <a:srgbClr val="1423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6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188720"/>
            <a:ext cx="10058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Pedidos e Catálogo</a:t>
            </a:r>
            <a:endParaRPr lang="en-US" sz="4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10312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B8CC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Evolução arquitetural incremental, sem downtime e sem quebrar quem já usa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931920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6FD3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 dias</a:t>
            </a:r>
            <a:endParaRPr lang="en-US" sz="4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475488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D5E2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app, marketplace e 2º país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3337560" y="3931920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6FD3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10x</a:t>
            </a:r>
            <a:endParaRPr lang="en-US" sz="4000" dirty="0"/>
          </a:p>
        </p:txBody>
      </p:sp>
      <p:sp>
        <p:nvSpPr>
          <p:cNvPr id="7" name="Text 5"/>
          <p:cNvSpPr txBox="1"/>
          <p:nvPr/>
        </p:nvSpPr>
        <p:spPr>
          <a:xfrm>
            <a:off x="3337560" y="475488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D5E2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tráfego projetado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6126480" y="3931920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6FD3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99,9%</a:t>
            </a:r>
            <a:endParaRPr lang="en-US" sz="4000" dirty="0"/>
          </a:p>
        </p:txBody>
      </p:sp>
      <p:sp>
        <p:nvSpPr>
          <p:cNvPr id="9" name="Text 7"/>
          <p:cNvSpPr txBox="1"/>
          <p:nvPr/>
        </p:nvSpPr>
        <p:spPr>
          <a:xfrm>
            <a:off x="6126480" y="475488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D5E2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disponibilidade mensal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915400" y="3931920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6FD3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500 ms</a:t>
            </a:r>
            <a:endParaRPr lang="en-US" sz="4000" dirty="0"/>
          </a:p>
        </p:txBody>
      </p:sp>
      <p:sp>
        <p:nvSpPr>
          <p:cNvPr id="11" name="Text 9"/>
          <p:cNvSpPr txBox="1"/>
          <p:nvPr/>
        </p:nvSpPr>
        <p:spPr>
          <a:xfrm>
            <a:off x="8915400" y="475488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D5E2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p95 na criação de pedido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61264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FA6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Desafio técnico · COE Arquitetura de Soluções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4232B"/>
                </a:solidFill>
              </a:rPr>
              <a:t>O que muda em 90 dias e o que não pode quebrar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280160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0F5F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Novos consumidores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5303520" cy="1188720"/>
          </a:xfrm>
          <a:prstGeom prst="roundRect">
            <a:avLst>
              <a:gd name="adj" fmla="val 6154"/>
            </a:avLst>
          </a:prstGeom>
          <a:solidFill>
            <a:srgbClr val="E6F2EF"/>
          </a:solidFill>
          <a:ln w="12700">
            <a:solidFill>
              <a:srgbClr val="E6F2E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2148840"/>
            <a:ext cx="457200" cy="457200"/>
          </a:xfrm>
          <a:prstGeom prst="ellipse">
            <a:avLst/>
          </a:prstGeom>
          <a:solidFill>
            <a:srgbClr val="0F5F5C"/>
          </a:solidFill>
          <a:ln w="12700">
            <a:solidFill>
              <a:srgbClr val="0F5F5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77240" y="21488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463040" y="1947672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4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 móvel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463040" y="2313432"/>
            <a:ext cx="4206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A5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Novo canal, precisa de API estável e retry seguro em rede ruim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48640" y="3154680"/>
            <a:ext cx="5303520" cy="1188720"/>
          </a:xfrm>
          <a:prstGeom prst="roundRect">
            <a:avLst>
              <a:gd name="adj" fmla="val 6154"/>
            </a:avLst>
          </a:prstGeom>
          <a:solidFill>
            <a:srgbClr val="E6F2EF"/>
          </a:solidFill>
          <a:ln w="12700">
            <a:solidFill>
              <a:srgbClr val="E6F2E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7240" y="3520440"/>
            <a:ext cx="457200" cy="457200"/>
          </a:xfrm>
          <a:prstGeom prst="ellipse">
            <a:avLst/>
          </a:prstGeom>
          <a:solidFill>
            <a:srgbClr val="0F5F5C"/>
          </a:solidFill>
          <a:ln w="12700">
            <a:solidFill>
              <a:srgbClr val="0F5F5C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77240" y="35204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463040" y="3319272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4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Parceiros de marketplace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1463040" y="3685032"/>
            <a:ext cx="4206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A5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pública versionada e notificação assíncrona de status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48640" y="4526280"/>
            <a:ext cx="5303520" cy="1188720"/>
          </a:xfrm>
          <a:prstGeom prst="roundRect">
            <a:avLst>
              <a:gd name="adj" fmla="val 6154"/>
            </a:avLst>
          </a:prstGeom>
          <a:solidFill>
            <a:srgbClr val="E6F2EF"/>
          </a:solidFill>
          <a:ln w="12700">
            <a:solidFill>
              <a:srgbClr val="E6F2E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77240" y="4892040"/>
            <a:ext cx="457200" cy="457200"/>
          </a:xfrm>
          <a:prstGeom prst="ellipse">
            <a:avLst/>
          </a:prstGeom>
          <a:solidFill>
            <a:srgbClr val="0F5F5C"/>
          </a:solidFill>
          <a:ln w="12700">
            <a:solidFill>
              <a:srgbClr val="0F5F5C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77240" y="4892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1463040" y="4690872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4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Segundo país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1463040" y="5056632"/>
            <a:ext cx="4206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A5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Moeda, preço por país e dados pessoais no próprio país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6400800" y="1280160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C77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Restrições</a:t>
            </a:r>
            <a:endParaRPr lang="en-US" sz="1800" dirty="0"/>
          </a:p>
        </p:txBody>
      </p:sp>
      <p:sp>
        <p:nvSpPr>
          <p:cNvPr id="20" name="Shape 18"/>
          <p:cNvSpPr/>
          <p:nvPr/>
        </p:nvSpPr>
        <p:spPr>
          <a:xfrm>
            <a:off x="6400800" y="1783080"/>
            <a:ext cx="5212080" cy="868680"/>
          </a:xfrm>
          <a:prstGeom prst="roundRect">
            <a:avLst>
              <a:gd name="adj" fmla="val 8421"/>
            </a:avLst>
          </a:prstGeom>
          <a:solidFill>
            <a:srgbClr val="FDF1DC"/>
          </a:solidFill>
          <a:ln w="12700">
            <a:solidFill>
              <a:srgbClr val="FDF1DC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629400" y="1892808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C77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meses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6629400" y="2240280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4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contratos atuais continuam compatíveis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0" y="2807208"/>
            <a:ext cx="5212080" cy="868680"/>
          </a:xfrm>
          <a:prstGeom prst="roundRect">
            <a:avLst>
              <a:gd name="adj" fmla="val 8421"/>
            </a:avLst>
          </a:prstGeom>
          <a:solidFill>
            <a:srgbClr val="FDF1DC"/>
          </a:solidFill>
          <a:ln w="12700">
            <a:solidFill>
              <a:srgbClr val="FDF1DC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629400" y="2916936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C77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 dias</a:t>
            </a:r>
            <a:endParaRPr lang="en-US" sz="1600" dirty="0"/>
          </a:p>
        </p:txBody>
      </p:sp>
      <p:sp>
        <p:nvSpPr>
          <p:cNvPr id="25" name="Text 23"/>
          <p:cNvSpPr txBox="1"/>
          <p:nvPr/>
        </p:nvSpPr>
        <p:spPr>
          <a:xfrm>
            <a:off x="6629400" y="3264408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4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primeira melhoria segura em produção, sem janela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6400800" y="3831336"/>
            <a:ext cx="5212080" cy="868680"/>
          </a:xfrm>
          <a:prstGeom prst="roundRect">
            <a:avLst>
              <a:gd name="adj" fmla="val 8421"/>
            </a:avLst>
          </a:prstGeom>
          <a:solidFill>
            <a:srgbClr val="FDF1DC"/>
          </a:solidFill>
          <a:ln w="12700">
            <a:solidFill>
              <a:srgbClr val="FDF1DC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6629400" y="3941064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C77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10x · 99,9% · 500 ms</a:t>
            </a:r>
            <a:endParaRPr lang="en-US" sz="1600" dirty="0"/>
          </a:p>
        </p:txBody>
      </p:sp>
      <p:sp>
        <p:nvSpPr>
          <p:cNvPr id="28" name="Text 26"/>
          <p:cNvSpPr txBox="1"/>
          <p:nvPr/>
        </p:nvSpPr>
        <p:spPr>
          <a:xfrm>
            <a:off x="6629400" y="4288536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4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escala, disponibilidade e latência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6400800" y="4855464"/>
            <a:ext cx="5212080" cy="868680"/>
          </a:xfrm>
          <a:prstGeom prst="roundRect">
            <a:avLst>
              <a:gd name="adj" fmla="val 8421"/>
            </a:avLst>
          </a:prstGeom>
          <a:solidFill>
            <a:srgbClr val="FDF1DC"/>
          </a:solidFill>
          <a:ln w="12700">
            <a:solidFill>
              <a:srgbClr val="FDF1DC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6629400" y="4965192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C77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LGPD</a:t>
            </a:r>
            <a:endParaRPr lang="en-US" sz="1600" dirty="0"/>
          </a:p>
        </p:txBody>
      </p:sp>
      <p:sp>
        <p:nvSpPr>
          <p:cNvPr id="31" name="Text 29"/>
          <p:cNvSpPr txBox="1"/>
          <p:nvPr/>
        </p:nvSpPr>
        <p:spPr>
          <a:xfrm>
            <a:off x="6629400" y="5312664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4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 residência de dados do novo país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6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4232B"/>
                </a:solidFill>
              </a:rPr>
              <a:t>Arquitetura atual (C4: contexto e contêineres)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1887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4A5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Contexto</a:t>
            </a:r>
            <a:endParaRPr lang="en-US" sz="1200" dirty="0"/>
          </a:p>
        </p:txBody>
      </p:sp>
      <p:pic>
        <p:nvPicPr>
          <p:cNvPr id="4" name="diagrama-1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492665"/>
            <a:ext cx="6949440" cy="1586671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4A5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Contêineres</a:t>
            </a:r>
            <a:endParaRPr lang="en-US" sz="1200" dirty="0"/>
          </a:p>
        </p:txBody>
      </p:sp>
      <p:pic>
        <p:nvPicPr>
          <p:cNvPr id="6" name="diagrama-2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853543"/>
            <a:ext cx="6949440" cy="1985554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7955280" y="11887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Pontos de falha</a:t>
            </a:r>
            <a:endParaRPr lang="en-US" sz="1800" dirty="0"/>
          </a:p>
        </p:txBody>
      </p:sp>
      <p:sp>
        <p:nvSpPr>
          <p:cNvPr id="8" name="Shape 4"/>
          <p:cNvSpPr/>
          <p:nvPr/>
        </p:nvSpPr>
        <p:spPr>
          <a:xfrm>
            <a:off x="7955280" y="1691640"/>
            <a:ext cx="3703320" cy="914400"/>
          </a:xfrm>
          <a:prstGeom prst="roundRect">
            <a:avLst>
              <a:gd name="adj" fmla="val 8000"/>
            </a:avLst>
          </a:prstGeom>
          <a:solidFill>
            <a:srgbClr val="FBE9E7"/>
          </a:solidFill>
          <a:ln w="12700">
            <a:solidFill>
              <a:srgbClr val="FBE9E7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8138160" y="1801368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4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Catálogo lento</a:t>
            </a:r>
            <a:endParaRPr lang="en-US" sz="1500" dirty="0"/>
          </a:p>
        </p:txBody>
      </p:sp>
      <p:sp>
        <p:nvSpPr>
          <p:cNvPr id="10" name="Text 6"/>
          <p:cNvSpPr txBox="1"/>
          <p:nvPr/>
        </p:nvSpPr>
        <p:spPr>
          <a:xfrm>
            <a:off x="8138160" y="2148840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A5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derruba a criação (cascata)</a:t>
            </a:r>
            <a:endParaRPr lang="en-US" sz="1300" dirty="0"/>
          </a:p>
        </p:txBody>
      </p:sp>
      <p:sp>
        <p:nvSpPr>
          <p:cNvPr id="11" name="Shape 7"/>
          <p:cNvSpPr/>
          <p:nvPr/>
        </p:nvSpPr>
        <p:spPr>
          <a:xfrm>
            <a:off x="7955280" y="2788920"/>
            <a:ext cx="3703320" cy="914400"/>
          </a:xfrm>
          <a:prstGeom prst="roundRect">
            <a:avLst>
              <a:gd name="adj" fmla="val 8000"/>
            </a:avLst>
          </a:prstGeom>
          <a:solidFill>
            <a:srgbClr val="FBE9E7"/>
          </a:solidFill>
          <a:ln w="12700">
            <a:solidFill>
              <a:srgbClr val="FBE9E7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8138160" y="2898648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4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Timeout + retry</a:t>
            </a:r>
            <a:endParaRPr lang="en-US" sz="1500" dirty="0"/>
          </a:p>
        </p:txBody>
      </p:sp>
      <p:sp>
        <p:nvSpPr>
          <p:cNvPr id="13" name="Text 9"/>
          <p:cNvSpPr txBox="1"/>
          <p:nvPr/>
        </p:nvSpPr>
        <p:spPr>
          <a:xfrm>
            <a:off x="8138160" y="3246120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A5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pedido duplicado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7955280" y="3886200"/>
            <a:ext cx="3703320" cy="914400"/>
          </a:xfrm>
          <a:prstGeom prst="roundRect">
            <a:avLst>
              <a:gd name="adj" fmla="val 8000"/>
            </a:avLst>
          </a:prstGeom>
          <a:solidFill>
            <a:srgbClr val="FBE9E7"/>
          </a:solidFill>
          <a:ln w="12700">
            <a:solidFill>
              <a:srgbClr val="FBE9E7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8138160" y="3995928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4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Commit e publish separados</a:t>
            </a:r>
            <a:endParaRPr lang="en-US" sz="1500" dirty="0"/>
          </a:p>
        </p:txBody>
      </p:sp>
      <p:sp>
        <p:nvSpPr>
          <p:cNvPr id="16" name="Text 12"/>
          <p:cNvSpPr txBox="1"/>
          <p:nvPr/>
        </p:nvSpPr>
        <p:spPr>
          <a:xfrm>
            <a:off x="8138160" y="4343400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A5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evento perdido ou fantasma</a:t>
            </a:r>
            <a:endParaRPr lang="en-US" sz="1300" dirty="0"/>
          </a:p>
        </p:txBody>
      </p:sp>
      <p:sp>
        <p:nvSpPr>
          <p:cNvPr id="17" name="Shape 13"/>
          <p:cNvSpPr/>
          <p:nvPr/>
        </p:nvSpPr>
        <p:spPr>
          <a:xfrm>
            <a:off x="7955280" y="4983480"/>
            <a:ext cx="3703320" cy="914400"/>
          </a:xfrm>
          <a:prstGeom prst="roundRect">
            <a:avLst>
              <a:gd name="adj" fmla="val 8000"/>
            </a:avLst>
          </a:prstGeom>
          <a:solidFill>
            <a:srgbClr val="FBE9E7"/>
          </a:solidFill>
          <a:ln w="12700">
            <a:solidFill>
              <a:srgbClr val="FBE9E7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8138160" y="5093208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4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Banco único</a:t>
            </a:r>
            <a:endParaRPr lang="en-US" sz="1500" dirty="0"/>
          </a:p>
        </p:txBody>
      </p:sp>
      <p:sp>
        <p:nvSpPr>
          <p:cNvPr id="19" name="Text 15"/>
          <p:cNvSpPr txBox="1"/>
          <p:nvPr/>
        </p:nvSpPr>
        <p:spPr>
          <a:xfrm>
            <a:off x="8138160" y="5440680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A5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tudo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6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4232B"/>
                </a:solidFill>
              </a:rPr>
              <a:t>Onde dói quando o tráfego multiplica por 10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371600"/>
            <a:ext cx="3520440" cy="2240280"/>
          </a:xfrm>
          <a:prstGeom prst="roundRect">
            <a:avLst>
              <a:gd name="adj" fmla="val 3265"/>
            </a:avLst>
          </a:prstGeom>
          <a:solidFill>
            <a:srgbClr val="F4F8F7"/>
          </a:solidFill>
          <a:ln w="12700">
            <a:solidFill>
              <a:srgbClr val="F4F8F7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55448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0F5F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P1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3108960" y="1591056"/>
            <a:ext cx="731520" cy="292608"/>
          </a:xfrm>
          <a:prstGeom prst="roundRect">
            <a:avLst>
              <a:gd name="adj" fmla="val 50000"/>
            </a:avLst>
          </a:prstGeom>
          <a:solidFill>
            <a:srgbClr val="B3261E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3108960" y="1591056"/>
            <a:ext cx="731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Alto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2057400"/>
            <a:ext cx="3063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4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Retry sem idempotency key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2651760"/>
            <a:ext cx="3063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A5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Pedido e cobrança em dobro. Mais tráfego, mais timeout, mais retry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343400" y="1371600"/>
            <a:ext cx="3520440" cy="2240280"/>
          </a:xfrm>
          <a:prstGeom prst="roundRect">
            <a:avLst>
              <a:gd name="adj" fmla="val 3265"/>
            </a:avLst>
          </a:prstGeom>
          <a:solidFill>
            <a:srgbClr val="F4F8F7"/>
          </a:solidFill>
          <a:ln w="12700">
            <a:solidFill>
              <a:srgbClr val="F4F8F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572000" y="155448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0F5F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P2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6903720" y="1591056"/>
            <a:ext cx="731520" cy="292608"/>
          </a:xfrm>
          <a:prstGeom prst="roundRect">
            <a:avLst>
              <a:gd name="adj" fmla="val 50000"/>
            </a:avLst>
          </a:prstGeom>
          <a:solidFill>
            <a:srgbClr val="B3261E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903720" y="1591056"/>
            <a:ext cx="731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Alto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0" y="2057400"/>
            <a:ext cx="3063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4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Evento fora da transação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4572000" y="2651760"/>
            <a:ext cx="3063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A5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Parceiro recebe evento de pedido que não existe, ou não recebe nada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8138160" y="1371600"/>
            <a:ext cx="3520440" cy="2240280"/>
          </a:xfrm>
          <a:prstGeom prst="roundRect">
            <a:avLst>
              <a:gd name="adj" fmla="val 3265"/>
            </a:avLst>
          </a:prstGeom>
          <a:solidFill>
            <a:srgbClr val="F4F8F7"/>
          </a:solidFill>
          <a:ln w="12700">
            <a:solidFill>
              <a:srgbClr val="F4F8F7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66760" y="155448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0F5F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P3</a:t>
            </a:r>
            <a:endParaRPr lang="en-US" sz="2200" dirty="0"/>
          </a:p>
        </p:txBody>
      </p:sp>
      <p:sp>
        <p:nvSpPr>
          <p:cNvPr id="17" name="Shape 15"/>
          <p:cNvSpPr/>
          <p:nvPr/>
        </p:nvSpPr>
        <p:spPr>
          <a:xfrm>
            <a:off x="10698480" y="1591056"/>
            <a:ext cx="731520" cy="292608"/>
          </a:xfrm>
          <a:prstGeom prst="roundRect">
            <a:avLst>
              <a:gd name="adj" fmla="val 50000"/>
            </a:avLst>
          </a:prstGeom>
          <a:solidFill>
            <a:srgbClr val="B3261E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10698480" y="1591056"/>
            <a:ext cx="731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Alto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8366760" y="2057400"/>
            <a:ext cx="3063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4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N+1 síncrono no Catálogo</a:t>
            </a:r>
            <a:endParaRPr lang="en-US" sz="1600" dirty="0"/>
          </a:p>
        </p:txBody>
      </p:sp>
      <p:sp>
        <p:nvSpPr>
          <p:cNvPr id="20" name="Text 18"/>
          <p:cNvSpPr txBox="1"/>
          <p:nvPr/>
        </p:nvSpPr>
        <p:spPr>
          <a:xfrm>
            <a:off x="8366760" y="2651760"/>
            <a:ext cx="3063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A5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p95 cresce com o nº de itens; Catálogo fora derruba Pedidos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48640" y="3886200"/>
            <a:ext cx="3520440" cy="2240280"/>
          </a:xfrm>
          <a:prstGeom prst="roundRect">
            <a:avLst>
              <a:gd name="adj" fmla="val 3265"/>
            </a:avLst>
          </a:prstGeom>
          <a:solidFill>
            <a:srgbClr val="F4F8F7"/>
          </a:solidFill>
          <a:ln w="12700">
            <a:solidFill>
              <a:srgbClr val="F4F8F7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77240" y="406908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0F5F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P4</a:t>
            </a:r>
            <a:endParaRPr lang="en-US" sz="2200" dirty="0"/>
          </a:p>
        </p:txBody>
      </p:sp>
      <p:sp>
        <p:nvSpPr>
          <p:cNvPr id="23" name="Shape 21"/>
          <p:cNvSpPr/>
          <p:nvPr/>
        </p:nvSpPr>
        <p:spPr>
          <a:xfrm>
            <a:off x="3108960" y="4105656"/>
            <a:ext cx="731520" cy="292608"/>
          </a:xfrm>
          <a:prstGeom prst="roundRect">
            <a:avLst>
              <a:gd name="adj" fmla="val 50000"/>
            </a:avLst>
          </a:prstGeom>
          <a:solidFill>
            <a:srgbClr val="C77A00"/>
          </a:solidFill>
          <a:ln w="12700">
            <a:solidFill>
              <a:srgbClr val="C77A00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3108960" y="4105656"/>
            <a:ext cx="731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Médio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777240" y="4572000"/>
            <a:ext cx="3063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4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 snapshot de preço</a:t>
            </a:r>
            <a:endParaRPr lang="en-US" sz="1600" dirty="0"/>
          </a:p>
        </p:txBody>
      </p:sp>
      <p:sp>
        <p:nvSpPr>
          <p:cNvPr id="26" name="Text 24"/>
          <p:cNvSpPr txBox="1"/>
          <p:nvPr/>
        </p:nvSpPr>
        <p:spPr>
          <a:xfrm>
            <a:off x="777240" y="5166360"/>
            <a:ext cx="3063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A5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Pedido "muda" quando o Catálogo muda. Sem auditoria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4343400" y="3886200"/>
            <a:ext cx="3520440" cy="2240280"/>
          </a:xfrm>
          <a:prstGeom prst="roundRect">
            <a:avLst>
              <a:gd name="adj" fmla="val 3265"/>
            </a:avLst>
          </a:prstGeom>
          <a:solidFill>
            <a:srgbClr val="F4F8F7"/>
          </a:solidFill>
          <a:ln w="12700">
            <a:solidFill>
              <a:srgbClr val="F4F8F7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4572000" y="406908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0F5F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P5</a:t>
            </a:r>
            <a:endParaRPr lang="en-US" sz="2200" dirty="0"/>
          </a:p>
        </p:txBody>
      </p:sp>
      <p:sp>
        <p:nvSpPr>
          <p:cNvPr id="29" name="Shape 27"/>
          <p:cNvSpPr/>
          <p:nvPr/>
        </p:nvSpPr>
        <p:spPr>
          <a:xfrm>
            <a:off x="6903720" y="4105656"/>
            <a:ext cx="731520" cy="292608"/>
          </a:xfrm>
          <a:prstGeom prst="roundRect">
            <a:avLst>
              <a:gd name="adj" fmla="val 50000"/>
            </a:avLst>
          </a:prstGeom>
          <a:solidFill>
            <a:srgbClr val="B3261E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6903720" y="4105656"/>
            <a:ext cx="731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Alto</a:t>
            </a:r>
            <a:endParaRPr lang="en-US" sz="1100" dirty="0"/>
          </a:p>
        </p:txBody>
      </p:sp>
      <p:sp>
        <p:nvSpPr>
          <p:cNvPr id="31" name="Text 29"/>
          <p:cNvSpPr txBox="1"/>
          <p:nvPr/>
        </p:nvSpPr>
        <p:spPr>
          <a:xfrm>
            <a:off x="4572000" y="4572000"/>
            <a:ext cx="3063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4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 versionamento de API</a:t>
            </a:r>
            <a:endParaRPr lang="en-US" sz="1600" dirty="0"/>
          </a:p>
        </p:txBody>
      </p:sp>
      <p:sp>
        <p:nvSpPr>
          <p:cNvPr id="32" name="Text 30"/>
          <p:cNvSpPr txBox="1"/>
          <p:nvPr/>
        </p:nvSpPr>
        <p:spPr>
          <a:xfrm>
            <a:off x="4572000" y="5166360"/>
            <a:ext cx="3063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A5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Qualquer mudança para app ou parceiro pode quebrar o web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8138160" y="3886200"/>
            <a:ext cx="3520440" cy="2240280"/>
          </a:xfrm>
          <a:prstGeom prst="roundRect">
            <a:avLst>
              <a:gd name="adj" fmla="val 3265"/>
            </a:avLst>
          </a:prstGeom>
          <a:solidFill>
            <a:srgbClr val="F4F8F7"/>
          </a:solidFill>
          <a:ln w="12700">
            <a:solidFill>
              <a:srgbClr val="F4F8F7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8366760" y="406908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0F5F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P6</a:t>
            </a:r>
            <a:endParaRPr lang="en-US" sz="2200" dirty="0"/>
          </a:p>
        </p:txBody>
      </p:sp>
      <p:sp>
        <p:nvSpPr>
          <p:cNvPr id="35" name="Shape 33"/>
          <p:cNvSpPr/>
          <p:nvPr/>
        </p:nvSpPr>
        <p:spPr>
          <a:xfrm>
            <a:off x="10698480" y="4105656"/>
            <a:ext cx="731520" cy="292608"/>
          </a:xfrm>
          <a:prstGeom prst="roundRect">
            <a:avLst>
              <a:gd name="adj" fmla="val 50000"/>
            </a:avLst>
          </a:prstGeom>
          <a:solidFill>
            <a:srgbClr val="B3261E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10698480" y="4105656"/>
            <a:ext cx="731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Alto</a:t>
            </a:r>
            <a:endParaRPr lang="en-US" sz="1100" dirty="0"/>
          </a:p>
        </p:txBody>
      </p:sp>
      <p:sp>
        <p:nvSpPr>
          <p:cNvPr id="37" name="Text 35"/>
          <p:cNvSpPr txBox="1"/>
          <p:nvPr/>
        </p:nvSpPr>
        <p:spPr>
          <a:xfrm>
            <a:off x="8366760" y="4572000"/>
            <a:ext cx="3063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4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Dados pessoais sem separação por país</a:t>
            </a:r>
            <a:endParaRPr lang="en-US" sz="1600" dirty="0"/>
          </a:p>
        </p:txBody>
      </p:sp>
      <p:sp>
        <p:nvSpPr>
          <p:cNvPr id="38" name="Text 36"/>
          <p:cNvSpPr txBox="1"/>
          <p:nvPr/>
        </p:nvSpPr>
        <p:spPr>
          <a:xfrm>
            <a:off x="8366760" y="5166360"/>
            <a:ext cx="3063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A5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Bloqueia a entrada no 2º país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6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4232B"/>
                </a:solidFill>
              </a:rPr>
              <a:t>Decisão crítica: criar pedido sem duplicar e sem quebrar ninguém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325880"/>
            <a:ext cx="5120640" cy="3931920"/>
          </a:xfrm>
          <a:prstGeom prst="roundRect">
            <a:avLst>
              <a:gd name="adj" fmla="val 1860"/>
            </a:avLst>
          </a:prstGeom>
          <a:solidFill>
            <a:srgbClr val="14232B"/>
          </a:solidFill>
          <a:ln w="12700">
            <a:solidFill>
              <a:srgbClr val="1423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5087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6FD3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a fatia prova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2011680"/>
            <a:ext cx="45720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Idempotency-Key: mesma chave não cria outro pedido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/v1 igual ao de hoje, /v2 novo, lado a lado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Snapshot de preço e descrição no item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Pedido, chave e outbox na mesma transação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3931920"/>
            <a:ext cx="45720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D5E2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Ataca P1, P2, P4 e P5 dentro do serviço de Pedidos, sem infraestrutura nova. Cabe em 30 dias e é pré-requisito do resto: sem idempotência, qualquer retry que a gente colocar depois aumenta a duplicidade.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6035040" y="1325880"/>
            <a:ext cx="5577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0F5F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que não começar por outra coisa</a:t>
            </a:r>
            <a:endParaRPr lang="en-US" sz="18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035040" y="1828800"/>
          <a:ext cx="557784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35661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Alternativa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5F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Por que não agora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5F5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3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Separar Catálogo de Pedidos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3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 grande, não entrega em 30 dias e não resolve duplicidade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3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Strangler Fig com gateway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3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Entra no plano (é como v1 e v2 convivem), mas sozinho não prova consistência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3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Cache / lote no Catálogo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3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Resolve latência (P3). É a entrega dos 60 dias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3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Outbox com relay e broker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3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gravação entra agora; relay e broker dependem da escolha de infraestrutura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7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6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4232B"/>
                </a:solidFill>
              </a:rPr>
              <a:t>Bounded contexts: quem é dono de quê</a:t>
            </a:r>
            <a:endParaRPr lang="en-US" sz="3000" dirty="0"/>
          </a:p>
        </p:txBody>
      </p:sp>
      <p:pic>
        <p:nvPicPr>
          <p:cNvPr id="3" name="diagrama-7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60520"/>
            <a:ext cx="6035040" cy="294824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48640" y="4572000"/>
            <a:ext cx="60350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4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contexto é dono do seu banco. Ninguém lê o banco do outro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4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Pedidos copia o que precisa do Catálogo (snapshot), não guarda referência viva de preço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4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Cadastro do cliente fica em Clientes/Conta; Pedidos guarda só contato e entrega do pedido, no país do pedido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4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Eventos e webhooks levam só IDs e status</a:t>
            </a:r>
            <a:endParaRPr lang="en-US" sz="14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0" y="1280160"/>
          <a:ext cx="475488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1920240"/>
                <a:gridCol w="14630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Contexto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5F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Possui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5F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Não possui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5F5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23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Catálogo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23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Produto, preço vigente por país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23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Pedido, cliente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23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Pedidos (core)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23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Pedido, item + snapshot, status, chave, outbox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23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Preço vigente, pagamento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23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Notificações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23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Assinaturas, entregas, DLQ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23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Dados do pedido além de ID/status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23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Acesso e Parceiros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23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Clientes de API, escopos, quotas, país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23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7"/>
                    </a:solidFill>
                  </a:tcPr>
                </a:tc>
              </a:tr>
            </a:tbl>
          </a:graphicData>
        </a:graphic>
      </p:graphicFrame>
      <p:sp>
        <p:nvSpPr>
          <p:cNvPr id="6" name="Text 2"/>
          <p:cNvSpPr txBox="1"/>
          <p:nvPr/>
        </p:nvSpPr>
        <p:spPr>
          <a:xfrm>
            <a:off x="6858000" y="4754880"/>
            <a:ext cx="47548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A5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Catálogo é upstream de Pedidos. Pagamento e Logística entram por camada anticorrupção. Parceiros consomem a linguagem publicada (OpenAPI v2 + AsyncAPI).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6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4232B"/>
                </a:solidFill>
              </a:rPr>
              <a:t>Arquitetura-alvo: contexto</a:t>
            </a:r>
            <a:endParaRPr lang="en-US" sz="3000" dirty="0"/>
          </a:p>
        </p:txBody>
      </p:sp>
      <p:pic>
        <p:nvPicPr>
          <p:cNvPr id="3" name="diagrama-3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372541"/>
            <a:ext cx="7680960" cy="2752997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8595360" y="137160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0F5F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entra</a:t>
            </a:r>
            <a:endParaRPr lang="en-US" sz="1800" dirty="0"/>
          </a:p>
        </p:txBody>
      </p:sp>
      <p:sp>
        <p:nvSpPr>
          <p:cNvPr id="5" name="Text 2"/>
          <p:cNvSpPr txBox="1"/>
          <p:nvPr/>
        </p:nvSpPr>
        <p:spPr>
          <a:xfrm>
            <a:off x="8595360" y="1828800"/>
            <a:ext cx="310896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4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 móvel e parceiros pela API v2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4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Webhooks de status para parceiros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4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Provedor de identidade (OAuth2/OIDC)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4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Assistente de consulta para o atendimento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4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Mesma plataforma em BR e País 2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8595360" y="557784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i="1" dirty="0">
                <a:solidFill>
                  <a:srgbClr val="C77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Mesmo sistema, evoluído. Sem reescrita.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6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4232B"/>
                </a:solidFill>
              </a:rPr>
              <a:t>Arquitetura-alvo: contêineres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234440"/>
            <a:ext cx="2103120" cy="3429000"/>
          </a:xfrm>
          <a:prstGeom prst="roundRect">
            <a:avLst>
              <a:gd name="adj" fmla="val 2609"/>
            </a:avLst>
          </a:prstGeom>
          <a:solidFill>
            <a:srgbClr val="FAFCFB"/>
          </a:solidFill>
          <a:ln w="15875">
            <a:solidFill>
              <a:srgbClr val="B3261E"/>
            </a:solidFill>
            <a:prstDash val="dash"/>
          </a:ln>
        </p:spPr>
      </p:sp>
      <p:sp>
        <p:nvSpPr>
          <p:cNvPr id="4" name="Text 2"/>
          <p:cNvSpPr txBox="1"/>
          <p:nvPr/>
        </p:nvSpPr>
        <p:spPr>
          <a:xfrm>
            <a:off x="658368" y="1289304"/>
            <a:ext cx="18836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Internet (não confiável)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731520" y="1691640"/>
            <a:ext cx="1737360" cy="548640"/>
          </a:xfrm>
          <a:prstGeom prst="roundRect">
            <a:avLst>
              <a:gd name="adj" fmla="val 10000"/>
            </a:avLst>
          </a:prstGeom>
          <a:solidFill>
            <a:srgbClr val="E6F2EF"/>
          </a:solidFill>
          <a:ln w="12700">
            <a:solidFill>
              <a:srgbClr val="0F5F5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1691640"/>
            <a:ext cx="1737360" cy="5486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4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2423160"/>
            <a:ext cx="1737360" cy="548640"/>
          </a:xfrm>
          <a:prstGeom prst="roundRect">
            <a:avLst>
              <a:gd name="adj" fmla="val 10000"/>
            </a:avLst>
          </a:prstGeom>
          <a:solidFill>
            <a:srgbClr val="E6F2EF"/>
          </a:solidFill>
          <a:ln w="12700">
            <a:solidFill>
              <a:srgbClr val="0F5F5C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31520" y="2423160"/>
            <a:ext cx="1737360" cy="5486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4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 móvel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731520" y="3154680"/>
            <a:ext cx="1737360" cy="548640"/>
          </a:xfrm>
          <a:prstGeom prst="roundRect">
            <a:avLst>
              <a:gd name="adj" fmla="val 10000"/>
            </a:avLst>
          </a:prstGeom>
          <a:solidFill>
            <a:srgbClr val="E6F2EF"/>
          </a:solidFill>
          <a:ln w="12700">
            <a:solidFill>
              <a:srgbClr val="0F5F5C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31520" y="3154680"/>
            <a:ext cx="1737360" cy="5486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4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Parceiro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2971800" y="1234440"/>
            <a:ext cx="1828800" cy="3429000"/>
          </a:xfrm>
          <a:prstGeom prst="roundRect">
            <a:avLst>
              <a:gd name="adj" fmla="val 3000"/>
            </a:avLst>
          </a:prstGeom>
          <a:solidFill>
            <a:srgbClr val="FAFCFB"/>
          </a:solidFill>
          <a:ln w="15875">
            <a:solidFill>
              <a:srgbClr val="C77A00"/>
            </a:solidFill>
            <a:prstDash val="dash"/>
          </a:ln>
        </p:spPr>
      </p:sp>
      <p:sp>
        <p:nvSpPr>
          <p:cNvPr id="12" name="Text 10"/>
          <p:cNvSpPr txBox="1"/>
          <p:nvPr/>
        </p:nvSpPr>
        <p:spPr>
          <a:xfrm>
            <a:off x="3081528" y="1289304"/>
            <a:ext cx="16093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C77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Borda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3108960" y="1920240"/>
            <a:ext cx="1554480" cy="1737360"/>
          </a:xfrm>
          <a:prstGeom prst="roundRect">
            <a:avLst>
              <a:gd name="adj" fmla="val 3529"/>
            </a:avLst>
          </a:prstGeom>
          <a:solidFill>
            <a:srgbClr val="FDF1DC"/>
          </a:solidFill>
          <a:ln w="12700">
            <a:solidFill>
              <a:srgbClr val="C77A0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3108960" y="1920240"/>
            <a:ext cx="1554480" cy="173736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4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WAF + API Gateway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14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OAuth2, quotas,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14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roteia v1/v2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14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 por país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2651760" y="2788920"/>
            <a:ext cx="457200" cy="0"/>
          </a:xfrm>
          <a:prstGeom prst="line">
            <a:avLst/>
          </a:prstGeom>
          <a:noFill/>
          <a:ln w="15875">
            <a:solidFill>
              <a:srgbClr val="4A5A63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5120640" y="1234440"/>
            <a:ext cx="4069080" cy="3429000"/>
          </a:xfrm>
          <a:prstGeom prst="roundRect">
            <a:avLst>
              <a:gd name="adj" fmla="val 1600"/>
            </a:avLst>
          </a:prstGeom>
          <a:solidFill>
            <a:srgbClr val="FAFCFB"/>
          </a:solidFill>
          <a:ln w="15875">
            <a:solidFill>
              <a:srgbClr val="0F5F5C"/>
            </a:solidFill>
            <a:prstDash val="dash"/>
          </a:ln>
        </p:spPr>
      </p:sp>
      <p:sp>
        <p:nvSpPr>
          <p:cNvPr id="17" name="Text 15"/>
          <p:cNvSpPr txBox="1"/>
          <p:nvPr/>
        </p:nvSpPr>
        <p:spPr>
          <a:xfrm>
            <a:off x="5230368" y="1289304"/>
            <a:ext cx="38496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0F5F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Célula BR (api-br) · dados pessoais BR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5303520" y="1691640"/>
            <a:ext cx="1783080" cy="548640"/>
          </a:xfrm>
          <a:prstGeom prst="roundRect">
            <a:avLst>
              <a:gd name="adj" fmla="val 10000"/>
            </a:avLst>
          </a:prstGeom>
          <a:solidFill>
            <a:srgbClr val="E6F2EF"/>
          </a:solidFill>
          <a:ln w="12700">
            <a:solidFill>
              <a:srgbClr val="0F5F5C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303520" y="1691640"/>
            <a:ext cx="1783080" cy="5486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4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Pedidos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7269480" y="1691640"/>
            <a:ext cx="1737360" cy="548640"/>
          </a:xfrm>
          <a:prstGeom prst="roundRect">
            <a:avLst>
              <a:gd name="adj" fmla="val 10000"/>
            </a:avLst>
          </a:prstGeom>
          <a:solidFill>
            <a:srgbClr val="E6F2EF"/>
          </a:solidFill>
          <a:ln w="12700">
            <a:solidFill>
              <a:srgbClr val="0F5F5C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269480" y="1691640"/>
            <a:ext cx="1737360" cy="5486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4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Relay da outbox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4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(lê a outbox)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5303520" y="2560320"/>
            <a:ext cx="1783080" cy="914400"/>
          </a:xfrm>
          <a:prstGeom prst="can">
            <a:avLst>
              <a:gd name="adj" fmla="val 6000"/>
            </a:avLst>
          </a:prstGeom>
          <a:solidFill>
            <a:srgbClr val="E6F2EF"/>
          </a:solidFill>
          <a:ln w="12700">
            <a:solidFill>
              <a:srgbClr val="0F5F5C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303520" y="2670048"/>
            <a:ext cx="1783080" cy="80467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4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Banco Pedidos BR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4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pedido, snapshot,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4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chave, outbox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7269480" y="2606040"/>
            <a:ext cx="1737360" cy="685800"/>
          </a:xfrm>
          <a:prstGeom prst="roundRect">
            <a:avLst>
              <a:gd name="adj" fmla="val 8000"/>
            </a:avLst>
          </a:prstGeom>
          <a:solidFill>
            <a:srgbClr val="E6F2EF"/>
          </a:solidFill>
          <a:ln w="12700">
            <a:solidFill>
              <a:srgbClr val="0F5F5C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7269480" y="2606040"/>
            <a:ext cx="1737360" cy="6858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4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Publica no broker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4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compartilhado (só IDs)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5303520" y="3749040"/>
            <a:ext cx="1783080" cy="548640"/>
          </a:xfrm>
          <a:prstGeom prst="roundRect">
            <a:avLst>
              <a:gd name="adj" fmla="val 10000"/>
            </a:avLst>
          </a:prstGeom>
          <a:solidFill>
            <a:srgbClr val="E6F2EF"/>
          </a:solidFill>
          <a:ln w="12700">
            <a:solidFill>
              <a:srgbClr val="0F5F5C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5303520" y="3749040"/>
            <a:ext cx="1783080" cy="5486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4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Job de reconciliação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7269480" y="3611880"/>
            <a:ext cx="1737360" cy="685800"/>
          </a:xfrm>
          <a:prstGeom prst="roundRect">
            <a:avLst>
              <a:gd name="adj" fmla="val 8000"/>
            </a:avLst>
          </a:prstGeom>
          <a:solidFill>
            <a:srgbClr val="E6F2EF"/>
          </a:solidFill>
          <a:ln w="12700">
            <a:solidFill>
              <a:srgbClr val="0F5F5C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7269480" y="3611880"/>
            <a:ext cx="1737360" cy="6858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4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Cache do Catálogo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4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(TTL 60 s)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4663440" y="1965960"/>
            <a:ext cx="640080" cy="0"/>
          </a:xfrm>
          <a:prstGeom prst="line">
            <a:avLst/>
          </a:prstGeom>
          <a:noFill/>
          <a:ln w="15875">
            <a:solidFill>
              <a:srgbClr val="4A5A63"/>
            </a:solidFill>
            <a:prstDash val="solid"/>
            <a:tailEnd type="triangle"/>
          </a:ln>
        </p:spPr>
      </p:sp>
      <p:sp>
        <p:nvSpPr>
          <p:cNvPr id="31" name="Shape 29"/>
          <p:cNvSpPr/>
          <p:nvPr/>
        </p:nvSpPr>
        <p:spPr>
          <a:xfrm>
            <a:off x="6195060" y="2240280"/>
            <a:ext cx="0" cy="347472"/>
          </a:xfrm>
          <a:prstGeom prst="line">
            <a:avLst/>
          </a:prstGeom>
          <a:noFill/>
          <a:ln w="15875">
            <a:solidFill>
              <a:srgbClr val="4A5A63"/>
            </a:solidFill>
            <a:prstDash val="solid"/>
            <a:tailEnd type="triangle"/>
          </a:ln>
        </p:spPr>
      </p:sp>
      <p:sp>
        <p:nvSpPr>
          <p:cNvPr id="32" name="Shape 30"/>
          <p:cNvSpPr/>
          <p:nvPr/>
        </p:nvSpPr>
        <p:spPr>
          <a:xfrm>
            <a:off x="8138160" y="2240280"/>
            <a:ext cx="0" cy="365760"/>
          </a:xfrm>
          <a:prstGeom prst="line">
            <a:avLst/>
          </a:prstGeom>
          <a:noFill/>
          <a:ln w="15875">
            <a:solidFill>
              <a:srgbClr val="4A5A63"/>
            </a:solidFill>
            <a:prstDash val="solid"/>
            <a:tailEnd type="triangle"/>
          </a:ln>
        </p:spPr>
      </p:sp>
      <p:sp>
        <p:nvSpPr>
          <p:cNvPr id="34" name="Shape 32"/>
          <p:cNvSpPr/>
          <p:nvPr/>
        </p:nvSpPr>
        <p:spPr>
          <a:xfrm>
            <a:off x="9464040" y="1234440"/>
            <a:ext cx="2176272" cy="3429000"/>
          </a:xfrm>
          <a:prstGeom prst="roundRect">
            <a:avLst>
              <a:gd name="adj" fmla="val 2521"/>
            </a:avLst>
          </a:prstGeom>
          <a:solidFill>
            <a:srgbClr val="FAFCFB"/>
          </a:solidFill>
          <a:ln w="15875">
            <a:solidFill>
              <a:srgbClr val="0F5F5C"/>
            </a:solidFill>
            <a:prstDash val="dash"/>
          </a:ln>
        </p:spPr>
      </p:sp>
      <p:sp>
        <p:nvSpPr>
          <p:cNvPr id="35" name="Text 33"/>
          <p:cNvSpPr txBox="1"/>
          <p:nvPr/>
        </p:nvSpPr>
        <p:spPr>
          <a:xfrm>
            <a:off x="9573768" y="1289304"/>
            <a:ext cx="19568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0F5F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Célula País 2 · só se a lei exigir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9601200" y="1691640"/>
            <a:ext cx="1901952" cy="548640"/>
          </a:xfrm>
          <a:prstGeom prst="roundRect">
            <a:avLst>
              <a:gd name="adj" fmla="val 10000"/>
            </a:avLst>
          </a:prstGeom>
          <a:solidFill>
            <a:srgbClr val="E6F2EF"/>
          </a:solidFill>
          <a:ln w="12700">
            <a:solidFill>
              <a:srgbClr val="0F5F5C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9601200" y="1691640"/>
            <a:ext cx="1901952" cy="5486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4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Pedidos</a:t>
            </a:r>
            <a:endParaRPr lang="en-US" sz="1200" dirty="0"/>
          </a:p>
        </p:txBody>
      </p:sp>
      <p:sp>
        <p:nvSpPr>
          <p:cNvPr id="38" name="Shape 36"/>
          <p:cNvSpPr/>
          <p:nvPr/>
        </p:nvSpPr>
        <p:spPr>
          <a:xfrm>
            <a:off x="9601200" y="2423160"/>
            <a:ext cx="1901952" cy="822960"/>
          </a:xfrm>
          <a:prstGeom prst="can">
            <a:avLst>
              <a:gd name="adj" fmla="val 6667"/>
            </a:avLst>
          </a:prstGeom>
          <a:solidFill>
            <a:srgbClr val="E6F2EF"/>
          </a:solidFill>
          <a:ln w="12700">
            <a:solidFill>
              <a:srgbClr val="0F5F5C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9601200" y="2532888"/>
            <a:ext cx="1901952" cy="71323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4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Banco Pedidos País 2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9601200" y="3474720"/>
            <a:ext cx="1901952" cy="822960"/>
          </a:xfrm>
          <a:prstGeom prst="roundRect">
            <a:avLst>
              <a:gd name="adj" fmla="val 6667"/>
            </a:avLst>
          </a:prstGeom>
          <a:solidFill>
            <a:srgbClr val="E6F2EF"/>
          </a:solidFill>
          <a:ln w="12700">
            <a:solidFill>
              <a:srgbClr val="0F5F5C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9601200" y="3474720"/>
            <a:ext cx="1901952" cy="82296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4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Relay + reconciliação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4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Cache do Catálogo</a:t>
            </a:r>
            <a:endParaRPr lang="en-US" sz="1100" dirty="0"/>
          </a:p>
        </p:txBody>
      </p:sp>
      <p:sp>
        <p:nvSpPr>
          <p:cNvPr id="42" name="Text 40"/>
          <p:cNvSpPr txBox="1"/>
          <p:nvPr/>
        </p:nvSpPr>
        <p:spPr>
          <a:xfrm>
            <a:off x="9601200" y="4315968"/>
            <a:ext cx="1901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4A5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mesmo código, host api-p2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2971800" y="4892040"/>
            <a:ext cx="8668512" cy="1508760"/>
          </a:xfrm>
          <a:prstGeom prst="roundRect">
            <a:avLst>
              <a:gd name="adj" fmla="val 3636"/>
            </a:avLst>
          </a:prstGeom>
          <a:solidFill>
            <a:srgbClr val="FAFCFB"/>
          </a:solidFill>
          <a:ln w="15875">
            <a:solidFill>
              <a:srgbClr val="4A5A63"/>
            </a:solidFill>
            <a:prstDash val="dash"/>
          </a:ln>
        </p:spPr>
      </p:sp>
      <p:sp>
        <p:nvSpPr>
          <p:cNvPr id="44" name="Text 42"/>
          <p:cNvSpPr txBox="1"/>
          <p:nvPr/>
        </p:nvSpPr>
        <p:spPr>
          <a:xfrm>
            <a:off x="3081528" y="4946904"/>
            <a:ext cx="84490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4A5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Compartilhado · sem dados pessoais · observabilidade (OpenTelemetry)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3154680" y="5349240"/>
            <a:ext cx="2011680" cy="777240"/>
          </a:xfrm>
          <a:prstGeom prst="roundRect">
            <a:avLst>
              <a:gd name="adj" fmla="val 7059"/>
            </a:avLst>
          </a:prstGeom>
          <a:solidFill>
            <a:srgbClr val="E6F2EF"/>
          </a:solidFill>
          <a:ln w="12700">
            <a:solidFill>
              <a:srgbClr val="0F5F5C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3154680" y="5349240"/>
            <a:ext cx="2011680" cy="7772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4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Catálogo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14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leitura em lote</a:t>
            </a:r>
            <a:endParaRPr lang="en-US" sz="1200" dirty="0"/>
          </a:p>
        </p:txBody>
      </p:sp>
      <p:sp>
        <p:nvSpPr>
          <p:cNvPr id="47" name="Shape 45"/>
          <p:cNvSpPr/>
          <p:nvPr/>
        </p:nvSpPr>
        <p:spPr>
          <a:xfrm>
            <a:off x="5532120" y="5349240"/>
            <a:ext cx="1645920" cy="777240"/>
          </a:xfrm>
          <a:prstGeom prst="can">
            <a:avLst>
              <a:gd name="adj" fmla="val 7059"/>
            </a:avLst>
          </a:prstGeom>
          <a:solidFill>
            <a:srgbClr val="E6F2EF"/>
          </a:solidFill>
          <a:ln w="12700">
            <a:solidFill>
              <a:srgbClr val="0F5F5C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5532120" y="5458968"/>
            <a:ext cx="1645920" cy="66751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4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Banco Catálogo</a:t>
            </a:r>
            <a:endParaRPr lang="en-US" sz="1100" dirty="0"/>
          </a:p>
        </p:txBody>
      </p:sp>
      <p:sp>
        <p:nvSpPr>
          <p:cNvPr id="49" name="Shape 47"/>
          <p:cNvSpPr/>
          <p:nvPr/>
        </p:nvSpPr>
        <p:spPr>
          <a:xfrm>
            <a:off x="7543800" y="5349240"/>
            <a:ext cx="1645920" cy="777240"/>
          </a:xfrm>
          <a:prstGeom prst="can">
            <a:avLst>
              <a:gd name="adj" fmla="val 7059"/>
            </a:avLst>
          </a:prstGeom>
          <a:solidFill>
            <a:srgbClr val="E6F2EF"/>
          </a:solidFill>
          <a:ln w="12700">
            <a:solidFill>
              <a:srgbClr val="0F5F5C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7543800" y="5458968"/>
            <a:ext cx="1645920" cy="66751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4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Broker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4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consumidores internos</a:t>
            </a:r>
            <a:endParaRPr lang="en-US" sz="1100" dirty="0"/>
          </a:p>
        </p:txBody>
      </p:sp>
      <p:sp>
        <p:nvSpPr>
          <p:cNvPr id="51" name="Shape 49"/>
          <p:cNvSpPr/>
          <p:nvPr/>
        </p:nvSpPr>
        <p:spPr>
          <a:xfrm>
            <a:off x="9555480" y="5349240"/>
            <a:ext cx="1920240" cy="777240"/>
          </a:xfrm>
          <a:prstGeom prst="roundRect">
            <a:avLst>
              <a:gd name="adj" fmla="val 7059"/>
            </a:avLst>
          </a:prstGeom>
          <a:solidFill>
            <a:srgbClr val="E6F2EF"/>
          </a:solidFill>
          <a:ln w="12700">
            <a:solidFill>
              <a:srgbClr val="0F5F5C"/>
            </a:solidFill>
            <a:prstDash val="solid"/>
          </a:ln>
        </p:spPr>
      </p:sp>
      <p:sp>
        <p:nvSpPr>
          <p:cNvPr id="52" name="Text 50"/>
          <p:cNvSpPr txBox="1"/>
          <p:nvPr/>
        </p:nvSpPr>
        <p:spPr>
          <a:xfrm>
            <a:off x="9555480" y="5349240"/>
            <a:ext cx="1920240" cy="7772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4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Notificador de webhooks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4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parceiro (HMAC)</a:t>
            </a:r>
            <a:endParaRPr lang="en-US" sz="1100" dirty="0"/>
          </a:p>
        </p:txBody>
      </p:sp>
      <p:sp>
        <p:nvSpPr>
          <p:cNvPr id="53" name="Shape 51"/>
          <p:cNvSpPr/>
          <p:nvPr/>
        </p:nvSpPr>
        <p:spPr>
          <a:xfrm>
            <a:off x="5166360" y="5733288"/>
            <a:ext cx="365760" cy="0"/>
          </a:xfrm>
          <a:prstGeom prst="line">
            <a:avLst/>
          </a:prstGeom>
          <a:noFill/>
          <a:ln w="15875">
            <a:solidFill>
              <a:srgbClr val="4A5A63"/>
            </a:solidFill>
            <a:prstDash val="solid"/>
            <a:tailEnd type="triangle"/>
          </a:ln>
        </p:spPr>
      </p:sp>
      <p:sp>
        <p:nvSpPr>
          <p:cNvPr id="55" name="Shape 53"/>
          <p:cNvSpPr/>
          <p:nvPr/>
        </p:nvSpPr>
        <p:spPr>
          <a:xfrm flipH="1">
            <a:off x="4160520" y="4663440"/>
            <a:ext cx="1143000" cy="685800"/>
          </a:xfrm>
          <a:prstGeom prst="line">
            <a:avLst/>
          </a:prstGeom>
          <a:noFill/>
          <a:ln w="15875">
            <a:solidFill>
              <a:srgbClr val="4A5A63"/>
            </a:solidFill>
            <a:prstDash val="solid"/>
            <a:tailEnd type="triangle"/>
          </a:ln>
        </p:spPr>
      </p:sp>
      <p:sp>
        <p:nvSpPr>
          <p:cNvPr id="56" name="Text 54"/>
          <p:cNvSpPr txBox="1"/>
          <p:nvPr/>
        </p:nvSpPr>
        <p:spPr>
          <a:xfrm>
            <a:off x="2743200" y="4663440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i="1" dirty="0">
                <a:solidFill>
                  <a:srgbClr val="4A5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lote, timeout 150 ms, CB</a:t>
            </a:r>
            <a:endParaRPr lang="en-US" sz="1000" dirty="0"/>
          </a:p>
        </p:txBody>
      </p:sp>
      <p:sp>
        <p:nvSpPr>
          <p:cNvPr id="57" name="Text 55"/>
          <p:cNvSpPr txBox="1"/>
          <p:nvPr/>
        </p:nvSpPr>
        <p:spPr>
          <a:xfrm>
            <a:off x="548640" y="4983480"/>
            <a:ext cx="21945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A5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Linha tracejada = fronteira de confiança. Dado pessoal não sai do país. Sem exigência de localização, pedidos do País 2 ficam no banco BR com country (ADR-005).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6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4232B"/>
                </a:solidFill>
              </a:rPr>
              <a:t>Fronteiras de confiança e pontos de falha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234440"/>
            <a:ext cx="5394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F5F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Fronteiras de confiança</a:t>
            </a:r>
            <a:endParaRPr lang="en-US" sz="17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91640"/>
          <a:ext cx="539496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3291840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Fronteira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5F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Controle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5F5C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3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Internet → Borda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3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TLS 1.2+, WAF, OAuth2/JWT, quotas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3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Borda → Célula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3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mTLS, claims (cliente, escopo, país)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7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3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Célula → Compartilhado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3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Só IDs; dado pessoal não sai da célula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3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Célula → Parceiro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3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Webhook HMAC, só ID e status, URL validada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7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3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Célula → Observabilidade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3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Mascaramento de dado pessoal no coletor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6263640" y="1234440"/>
            <a:ext cx="5394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Pontos de falha no alvo</a:t>
            </a:r>
            <a:endParaRPr lang="en-US" sz="1700" dirty="0"/>
          </a:p>
        </p:txBody>
      </p:sp>
      <p:graphicFrame>
        <p:nvGraphicFramePr>
          <p:cNvPr id="1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63640" y="1691640"/>
          <a:ext cx="5376672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3456432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Falha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5F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 que acontece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5F5C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3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Catálogo lento ou fora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3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Usa cache; sem cache, 503 + Retry-After (seguro pela idempotência)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3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Broker fora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3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Outbox acumula; pedidos continuam sendo criados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7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3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Parceiro fora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3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Retry e DLQ; parceiro reconcilia pela API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3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Banco da célula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3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Failover para réplica; a outra célula segue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7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3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Gateway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3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Múltiplas zonas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6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4232B"/>
                </a:solidFill>
              </a:rPr>
              <a:t>Cada atributo de qualidade tem um mecanismo</a:t>
            </a:r>
            <a:endParaRPr lang="en-US" sz="30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4415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5760720"/>
                <a:gridCol w="3227832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Atributo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5F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Mecanismo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5F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Como medimos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5F5C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3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Escala 10x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3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Catálogo em lote + cache, Pedidos stateless com autoescala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3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 criações/s em teste de carga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3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Disponibilidade 99,9%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3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Multi-zona, outbox desacopla o broker, circuit breaker, canário + feature flag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3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≤ 43 min de 5xx por mês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7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3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p95 500 ms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3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chamada em lote ao Catálogo, cache, orçamento de latência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3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p95 ≤ 500 ms no gateway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3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Consistência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3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Idempotency-Key, snapshot + outbox na mesma transação, dedup por eventId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3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 duplicatas, 0 eventos perdidos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7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3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Auditabilidade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3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Snapshot de preço, histórico de status com autor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3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 dos itens com snapshot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3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Segurança / LGPD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3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OAuth2 com escopos, coluna de país (célula só se a lei exigir), eventos sem dado pessoal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3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404 para recurso alheio, 429 na quota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7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3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Evolução sem quebra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3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/v1 e /v2 em paralelo, teste de contrato no CI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3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Teste do consumidor v1 verde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6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4232B"/>
                </a:solidFill>
              </a:rPr>
              <a:t>Sequência: criação de pedido (v2)</a:t>
            </a:r>
            <a:endParaRPr lang="en-US" sz="3000" dirty="0"/>
          </a:p>
        </p:txBody>
      </p:sp>
      <p:pic>
        <p:nvPicPr>
          <p:cNvPr id="3" name="diagrama-5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188720"/>
            <a:ext cx="7118939" cy="521208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8046720" y="128016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4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Quatro respostas possíveis</a:t>
            </a:r>
            <a:endParaRPr lang="en-US" sz="1700" dirty="0"/>
          </a:p>
        </p:txBody>
      </p:sp>
      <p:sp>
        <p:nvSpPr>
          <p:cNvPr id="5" name="Shape 2"/>
          <p:cNvSpPr/>
          <p:nvPr/>
        </p:nvSpPr>
        <p:spPr>
          <a:xfrm>
            <a:off x="8046720" y="1783080"/>
            <a:ext cx="1737360" cy="292608"/>
          </a:xfrm>
          <a:prstGeom prst="roundRect">
            <a:avLst>
              <a:gd name="adj" fmla="val 50000"/>
            </a:avLst>
          </a:prstGeom>
          <a:solidFill>
            <a:srgbClr val="0F5F5C"/>
          </a:solidFill>
          <a:ln w="12700">
            <a:solidFill>
              <a:srgbClr val="0F5F5C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046720" y="1783080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201 + mesmo corpo</a:t>
            </a:r>
            <a:endParaRPr lang="en-US" sz="1100" dirty="0"/>
          </a:p>
        </p:txBody>
      </p:sp>
      <p:sp>
        <p:nvSpPr>
          <p:cNvPr id="7" name="Text 4"/>
          <p:cNvSpPr txBox="1"/>
          <p:nvPr/>
        </p:nvSpPr>
        <p:spPr>
          <a:xfrm>
            <a:off x="8046720" y="2130552"/>
            <a:ext cx="3611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A5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chave existe, mesmo payload (replay)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8046720" y="2697480"/>
            <a:ext cx="1737360" cy="292608"/>
          </a:xfrm>
          <a:prstGeom prst="roundRect">
            <a:avLst>
              <a:gd name="adj" fmla="val 50000"/>
            </a:avLst>
          </a:prstGeom>
          <a:solidFill>
            <a:srgbClr val="B3261E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8046720" y="2697480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422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8046720" y="3044952"/>
            <a:ext cx="3611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A5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chave existe, payload diferente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8046720" y="3611880"/>
            <a:ext cx="1737360" cy="292608"/>
          </a:xfrm>
          <a:prstGeom prst="roundRect">
            <a:avLst>
              <a:gd name="adj" fmla="val 50000"/>
            </a:avLst>
          </a:prstGeom>
          <a:solidFill>
            <a:srgbClr val="C77A00"/>
          </a:solidFill>
          <a:ln w="12700">
            <a:solidFill>
              <a:srgbClr val="C77A00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8046720" y="3611880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409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8046720" y="3959352"/>
            <a:ext cx="3611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A5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chave ainda em processamento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8046720" y="4526280"/>
            <a:ext cx="1737360" cy="292608"/>
          </a:xfrm>
          <a:prstGeom prst="roundRect">
            <a:avLst>
              <a:gd name="adj" fmla="val 50000"/>
            </a:avLst>
          </a:prstGeom>
          <a:solidFill>
            <a:srgbClr val="0F5F5C"/>
          </a:solidFill>
          <a:ln w="12700">
            <a:solidFill>
              <a:srgbClr val="0F5F5C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8046720" y="4526280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201 Created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8046720" y="4873752"/>
            <a:ext cx="3611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A5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chave nova: pedido, chave e outbox no mesmo COMMIT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8046720" y="5486400"/>
            <a:ext cx="3611880" cy="822960"/>
          </a:xfrm>
          <a:prstGeom prst="roundRect">
            <a:avLst>
              <a:gd name="adj" fmla="val 8889"/>
            </a:avLst>
          </a:prstGeom>
          <a:solidFill>
            <a:srgbClr val="FDF1DC"/>
          </a:solidFill>
          <a:ln w="12700">
            <a:solidFill>
              <a:srgbClr val="FDF1DC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8183880" y="5550408"/>
            <a:ext cx="3383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4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Duas chamadas ao mesmo tempo: a UNIQUE derruba uma; ela relê e devolve o pedido original.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6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4232B"/>
                </a:solidFill>
              </a:rPr>
              <a:t>Sequência: mudança de status e notificação</a:t>
            </a:r>
            <a:endParaRPr lang="en-US" sz="3000" dirty="0"/>
          </a:p>
        </p:txBody>
      </p:sp>
      <p:pic>
        <p:nvPicPr>
          <p:cNvPr id="3" name="diagrama-6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289468"/>
            <a:ext cx="11094415" cy="4004744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548640" y="5486400"/>
            <a:ext cx="2651760" cy="914400"/>
          </a:xfrm>
          <a:prstGeom prst="roundRect">
            <a:avLst>
              <a:gd name="adj" fmla="val 8000"/>
            </a:avLst>
          </a:prstGeom>
          <a:solidFill>
            <a:srgbClr val="E6F2EF"/>
          </a:solidFill>
          <a:ln w="12700">
            <a:solidFill>
              <a:srgbClr val="E6F2EF"/>
            </a:solidFill>
            <a:prstDash val="solid"/>
          </a:ln>
        </p:spPr>
        <p:txBody>
          <a:bodyPr/>
          <a:p/>
        </p:txBody>
      </p:sp>
      <p:sp>
        <p:nvSpPr>
          <p:cNvPr id="5" name="Text 2"/>
          <p:cNvSpPr txBox="1"/>
          <p:nvPr/>
        </p:nvSpPr>
        <p:spPr>
          <a:xfrm>
            <a:off x="685800" y="5550408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F5F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Pelo menos uma vez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685800" y="5870448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A5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Consumidor deduplica por eventId</a:t>
            </a:r>
            <a:endParaRPr lang="en-US" sz="1100" dirty="0"/>
          </a:p>
        </p:txBody>
      </p:sp>
      <p:sp>
        <p:nvSpPr>
          <p:cNvPr id="7" name="Shape 4"/>
          <p:cNvSpPr/>
          <p:nvPr/>
        </p:nvSpPr>
        <p:spPr>
          <a:xfrm>
            <a:off x="3364992" y="5486400"/>
            <a:ext cx="2651760" cy="914400"/>
          </a:xfrm>
          <a:prstGeom prst="roundRect">
            <a:avLst>
              <a:gd name="adj" fmla="val 8000"/>
            </a:avLst>
          </a:prstGeom>
          <a:solidFill>
            <a:srgbClr val="E6F2EF"/>
          </a:solidFill>
          <a:ln w="12700">
            <a:solidFill>
              <a:srgbClr val="E6F2EF"/>
            </a:solidFill>
            <a:prstDash val="solid"/>
          </a:ln>
        </p:spPr>
        <p:txBody>
          <a:bodyPr/>
          <a:p/>
        </p:txBody>
      </p:sp>
      <p:sp>
        <p:nvSpPr>
          <p:cNvPr id="8" name="Text 5"/>
          <p:cNvSpPr txBox="1"/>
          <p:nvPr/>
        </p:nvSpPr>
        <p:spPr>
          <a:xfrm>
            <a:off x="3502152" y="5550408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F5F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Ordem por pedido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3502152" y="5870448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A5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Partição por orderId; campo version descarta evento velho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6181344" y="5486400"/>
            <a:ext cx="2651760" cy="914400"/>
          </a:xfrm>
          <a:prstGeom prst="roundRect">
            <a:avLst>
              <a:gd name="adj" fmla="val 8000"/>
            </a:avLst>
          </a:prstGeom>
          <a:solidFill>
            <a:srgbClr val="E6F2EF"/>
          </a:solidFill>
          <a:ln w="12700">
            <a:solidFill>
              <a:srgbClr val="E6F2EF"/>
            </a:solidFill>
            <a:prstDash val="solid"/>
          </a:ln>
        </p:spPr>
        <p:txBody>
          <a:bodyPr/>
          <a:p/>
        </p:txBody>
      </p:sp>
      <p:sp>
        <p:nvSpPr>
          <p:cNvPr id="11" name="Text 8"/>
          <p:cNvSpPr txBox="1"/>
          <p:nvPr/>
        </p:nvSpPr>
        <p:spPr>
          <a:xfrm>
            <a:off x="6318504" y="5550408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F5F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Parceiro fora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6318504" y="5870448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A5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Retry exponencial até 24 h, depois DLQ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8997696" y="5486400"/>
            <a:ext cx="2651760" cy="914400"/>
          </a:xfrm>
          <a:prstGeom prst="roundRect">
            <a:avLst>
              <a:gd name="adj" fmla="val 8000"/>
            </a:avLst>
          </a:prstGeom>
          <a:solidFill>
            <a:srgbClr val="E6F2EF"/>
          </a:solidFill>
          <a:ln w="12700">
            <a:solidFill>
              <a:srgbClr val="E6F2EF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 txBox="1"/>
          <p:nvPr/>
        </p:nvSpPr>
        <p:spPr>
          <a:xfrm>
            <a:off x="9134856" y="5550408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F5F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Reconciliação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9134856" y="5870448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A5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Parceiro consulta GET /v2/orders/{id} ou GET /v2/orders?updatedSince=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6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4232B"/>
                </a:solidFill>
              </a:rPr>
              <a:t>Síncrono ou assíncrono: regra simples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280160"/>
            <a:ext cx="11094415" cy="777240"/>
          </a:xfrm>
          <a:prstGeom prst="roundRect">
            <a:avLst>
              <a:gd name="adj" fmla="val 9412"/>
            </a:avLst>
          </a:prstGeom>
          <a:solidFill>
            <a:srgbClr val="14232B"/>
          </a:solidFill>
          <a:ln w="12700">
            <a:solidFill>
              <a:srgbClr val="1423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280160"/>
            <a:ext cx="1054577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Síncrono só quando a resposta depende do dado e o dado precisa estar atual. O resto é assíncrono.</a:t>
            </a:r>
            <a:endParaRPr lang="en-US" sz="17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331720"/>
          <a:ext cx="11094415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1828800"/>
                <a:gridCol w="6153912"/>
              </a:tblGrid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Interação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5F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Estilo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5F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Por quê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5F5C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423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Cliente → criar pedido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423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Síncrono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423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Cliente precisa do ID e do total. A chave de idempotência torna o retry seguro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423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Cliente → consultar pedido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423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Síncrono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423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Leitura simples, dado local da célula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7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423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Pedidos → Catálogo (preço)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423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Síncrono, em lote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423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Preço precisa estar certo na hora. Lote + cache resolve N+1 e latência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423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Pedidos → parceiros e sistemas internos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423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Assíncrono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423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Outbox → broker → webhook. Parceiro lento não afeta a criação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7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423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Pagamento / Logística → Pedidos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423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Assíncrono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423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Origem externa com retry próprio; dedup pelo ID da origem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6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4232B"/>
                </a:solidFill>
              </a:rPr>
              <a:t>Decisões (ADRs): consistência e contrato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280160"/>
            <a:ext cx="5394960" cy="2331720"/>
          </a:xfrm>
          <a:prstGeom prst="roundRect">
            <a:avLst>
              <a:gd name="adj" fmla="val 3137"/>
            </a:avLst>
          </a:prstGeom>
          <a:solidFill>
            <a:srgbClr val="F4F8F7"/>
          </a:solidFill>
          <a:ln w="12700">
            <a:solidFill>
              <a:srgbClr val="F4F8F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463040"/>
            <a:ext cx="1005840" cy="292608"/>
          </a:xfrm>
          <a:prstGeom prst="roundRect">
            <a:avLst>
              <a:gd name="adj" fmla="val 50000"/>
            </a:avLst>
          </a:prstGeom>
          <a:solidFill>
            <a:srgbClr val="0F5F5C"/>
          </a:solidFill>
          <a:ln w="12700">
            <a:solidFill>
              <a:srgbClr val="0F5F5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1463040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ADR-001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1874520" y="1435608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Idempotência na criação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1965960"/>
            <a:ext cx="5029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F5F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Decisão: </a:t>
            </a:r>
            <a:pPr indent="0" marL="0">
              <a:buNone/>
            </a:pPr>
            <a:r>
              <a:rPr lang="en-US" sz="1300" dirty="0">
                <a:solidFill>
                  <a:srgbClr val="14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Idempotency-Key do cliente, gravada no banco com hash do payload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2743200"/>
            <a:ext cx="5029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Descartado: </a:t>
            </a:r>
            <a:pPr indent="0" marL="0">
              <a:buNone/>
            </a:pPr>
            <a:r>
              <a:rPr lang="en-US" sz="1300" dirty="0">
                <a:solidFill>
                  <a:srgbClr val="4A5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Cache Redis (perde garantia e fica fora da transação); dedup por conteúdo (falso positivo)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217920" y="1280160"/>
            <a:ext cx="5394960" cy="2331720"/>
          </a:xfrm>
          <a:prstGeom prst="roundRect">
            <a:avLst>
              <a:gd name="adj" fmla="val 3137"/>
            </a:avLst>
          </a:prstGeom>
          <a:solidFill>
            <a:srgbClr val="F4F8F7"/>
          </a:solidFill>
          <a:ln w="12700">
            <a:solidFill>
              <a:srgbClr val="F4F8F7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400800" y="1463040"/>
            <a:ext cx="1005840" cy="292608"/>
          </a:xfrm>
          <a:prstGeom prst="roundRect">
            <a:avLst>
              <a:gd name="adj" fmla="val 50000"/>
            </a:avLst>
          </a:prstGeom>
          <a:solidFill>
            <a:srgbClr val="0F5F5C"/>
          </a:solidFill>
          <a:ln w="12700">
            <a:solidFill>
              <a:srgbClr val="0F5F5C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400800" y="1463040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ADR-002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7543800" y="1435608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Outbox transacional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6400800" y="1965960"/>
            <a:ext cx="5029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F5F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Decisão: </a:t>
            </a:r>
            <a:pPr indent="0" marL="0">
              <a:buNone/>
            </a:pPr>
            <a:r>
              <a:rPr lang="en-US" sz="1300" dirty="0">
                <a:solidFill>
                  <a:srgbClr val="14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Evento gravado na mesma transação; relay publica depois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6400800" y="2743200"/>
            <a:ext cx="5029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Descartado: </a:t>
            </a:r>
            <a:pPr indent="0" marL="0">
              <a:buNone/>
            </a:pPr>
            <a:r>
              <a:rPr lang="en-US" sz="1300" dirty="0">
                <a:solidFill>
                  <a:srgbClr val="4A5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Publicar após commit (perde evento); 2PC (acopla e é lento); CDC fica como evolução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548640" y="3840480"/>
            <a:ext cx="5394960" cy="2331720"/>
          </a:xfrm>
          <a:prstGeom prst="roundRect">
            <a:avLst>
              <a:gd name="adj" fmla="val 3137"/>
            </a:avLst>
          </a:prstGeom>
          <a:solidFill>
            <a:srgbClr val="F4F8F7"/>
          </a:solidFill>
          <a:ln w="12700">
            <a:solidFill>
              <a:srgbClr val="F4F8F7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31520" y="4023360"/>
            <a:ext cx="1005840" cy="292608"/>
          </a:xfrm>
          <a:prstGeom prst="roundRect">
            <a:avLst>
              <a:gd name="adj" fmla="val 50000"/>
            </a:avLst>
          </a:prstGeom>
          <a:solidFill>
            <a:srgbClr val="0F5F5C"/>
          </a:solidFill>
          <a:ln w="12700">
            <a:solidFill>
              <a:srgbClr val="0F5F5C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31520" y="4023360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ADR-003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1874520" y="3995928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Snapshot + Catálogo em lote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731520" y="4526280"/>
            <a:ext cx="5029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F5F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Decisão: </a:t>
            </a:r>
            <a:pPr indent="0" marL="0">
              <a:buNone/>
            </a:pPr>
            <a:r>
              <a:rPr lang="en-US" sz="1300" dirty="0">
                <a:solidFill>
                  <a:srgbClr val="14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Uma chamada por pedido, cache de 60 s, preço gravado no item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731520" y="5303520"/>
            <a:ext cx="5029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Descartado: </a:t>
            </a:r>
            <a:pPr indent="0" marL="0">
              <a:buNone/>
            </a:pPr>
            <a:r>
              <a:rPr lang="en-US" sz="1300" dirty="0">
                <a:solidFill>
                  <a:srgbClr val="4A5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Réplica local do Catálogo (preço velho, mais um modelo para manter)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6217920" y="3840480"/>
            <a:ext cx="5394960" cy="2331720"/>
          </a:xfrm>
          <a:prstGeom prst="roundRect">
            <a:avLst>
              <a:gd name="adj" fmla="val 3137"/>
            </a:avLst>
          </a:prstGeom>
          <a:solidFill>
            <a:srgbClr val="F4F8F7"/>
          </a:solidFill>
          <a:ln w="12700">
            <a:solidFill>
              <a:srgbClr val="F4F8F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400800" y="4023360"/>
            <a:ext cx="1005840" cy="292608"/>
          </a:xfrm>
          <a:prstGeom prst="roundRect">
            <a:avLst>
              <a:gd name="adj" fmla="val 50000"/>
            </a:avLst>
          </a:prstGeom>
          <a:solidFill>
            <a:srgbClr val="0F5F5C"/>
          </a:solidFill>
          <a:ln w="12700">
            <a:solidFill>
              <a:srgbClr val="0F5F5C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400800" y="4023360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ADR-004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7543800" y="3995928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Versão na URL, v1 e v2 juntos</a:t>
            </a:r>
            <a:endParaRPr lang="en-US" sz="1600" dirty="0"/>
          </a:p>
        </p:txBody>
      </p:sp>
      <p:sp>
        <p:nvSpPr>
          <p:cNvPr id="25" name="Text 23"/>
          <p:cNvSpPr txBox="1"/>
          <p:nvPr/>
        </p:nvSpPr>
        <p:spPr>
          <a:xfrm>
            <a:off x="6400800" y="4526280"/>
            <a:ext cx="5029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F5F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Decisão: </a:t>
            </a:r>
            <a:pPr indent="0" marL="0">
              <a:buNone/>
            </a:pPr>
            <a:r>
              <a:rPr lang="en-US" sz="1300" dirty="0">
                <a:solidFill>
                  <a:srgbClr val="14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/v1 intacto, /v2 novo, mesmo backend. v1 vive ≥ 6 meses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6400800" y="5303520"/>
            <a:ext cx="5029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Descartado: </a:t>
            </a:r>
            <a:pPr indent="0" marL="0">
              <a:buNone/>
            </a:pPr>
            <a:r>
              <a:rPr lang="en-US" sz="1300" dirty="0">
                <a:solidFill>
                  <a:srgbClr val="4A5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Mudar no lugar (quebra o web); versão por header (pior para parceiro e gateway)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6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4232B"/>
                </a:solidFill>
              </a:rPr>
              <a:t>Decisões (ADRs): país, parceiros e acesso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280160"/>
            <a:ext cx="3520440" cy="2926080"/>
          </a:xfrm>
          <a:prstGeom prst="roundRect">
            <a:avLst>
              <a:gd name="adj" fmla="val 2500"/>
            </a:avLst>
          </a:prstGeom>
          <a:solidFill>
            <a:srgbClr val="F4F8F7"/>
          </a:solidFill>
          <a:ln w="12700">
            <a:solidFill>
              <a:srgbClr val="F4F8F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463040"/>
            <a:ext cx="1005840" cy="292608"/>
          </a:xfrm>
          <a:prstGeom prst="roundRect">
            <a:avLst>
              <a:gd name="adj" fmla="val 50000"/>
            </a:avLst>
          </a:prstGeom>
          <a:solidFill>
            <a:srgbClr val="0F5F5C"/>
          </a:solidFill>
          <a:ln w="12700">
            <a:solidFill>
              <a:srgbClr val="0F5F5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1463040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ADR-005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1874520" y="1435608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Coluna de país ou célula mínima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1965960"/>
            <a:ext cx="31546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F5F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Decisão: país vem do client_id; célula mínima (API + banco na região) só se a lei exigir. Broker e Catálogo compartilhados</a:t>
            </a:r>
            <a:pPr indent="0" marL="0">
              <a:buNone/>
            </a:pP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3063240"/>
            <a:ext cx="31546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Descartado: célula completa com broker e notificador por país (custo sem ganho de conformidade); plataforma inteira duplicada</a:t>
            </a:r>
            <a:pPr indent="0" marL="0">
              <a:buNone/>
            </a:pP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343400" y="1280160"/>
            <a:ext cx="3520440" cy="2926080"/>
          </a:xfrm>
          <a:prstGeom prst="roundRect">
            <a:avLst>
              <a:gd name="adj" fmla="val 2500"/>
            </a:avLst>
          </a:prstGeom>
          <a:solidFill>
            <a:srgbClr val="F4F8F7"/>
          </a:solidFill>
          <a:ln w="12700">
            <a:solidFill>
              <a:srgbClr val="F4F8F7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26280" y="1463040"/>
            <a:ext cx="1005840" cy="292608"/>
          </a:xfrm>
          <a:prstGeom prst="roundRect">
            <a:avLst>
              <a:gd name="adj" fmla="val 50000"/>
            </a:avLst>
          </a:prstGeom>
          <a:solidFill>
            <a:srgbClr val="0F5F5C"/>
          </a:solidFill>
          <a:ln w="12700">
            <a:solidFill>
              <a:srgbClr val="0F5F5C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526280" y="1463040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ADR-006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5669280" y="1435608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Webhooks assinados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4526280" y="1965960"/>
            <a:ext cx="31546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F5F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Decisão: </a:t>
            </a:r>
            <a:pPr indent="0" marL="0">
              <a:buNone/>
            </a:pPr>
            <a:r>
              <a:rPr lang="en-US" sz="1300" dirty="0">
                <a:solidFill>
                  <a:srgbClr val="14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HTTPS + HMAC, retry 24 h, DLQ, fila por parceiro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4526280" y="3063240"/>
            <a:ext cx="31546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Descartado: </a:t>
            </a:r>
            <a:pPr indent="0" marL="0">
              <a:buNone/>
            </a:pPr>
            <a:r>
              <a:rPr lang="en-US" sz="1300" dirty="0">
                <a:solidFill>
                  <a:srgbClr val="4A5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Parceiro direto no broker (expõe infraestrutura); só polling (carga e atraso)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8138160" y="1280160"/>
            <a:ext cx="3520440" cy="2926080"/>
          </a:xfrm>
          <a:prstGeom prst="roundRect">
            <a:avLst>
              <a:gd name="adj" fmla="val 2500"/>
            </a:avLst>
          </a:prstGeom>
          <a:solidFill>
            <a:srgbClr val="F4F8F7"/>
          </a:solidFill>
          <a:ln w="12700">
            <a:solidFill>
              <a:srgbClr val="F4F8F7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321040" y="1463040"/>
            <a:ext cx="1005840" cy="292608"/>
          </a:xfrm>
          <a:prstGeom prst="roundRect">
            <a:avLst>
              <a:gd name="adj" fmla="val 50000"/>
            </a:avLst>
          </a:prstGeom>
          <a:solidFill>
            <a:srgbClr val="0F5F5C"/>
          </a:solidFill>
          <a:ln w="12700">
            <a:solidFill>
              <a:srgbClr val="0F5F5C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321040" y="1463040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ADR-007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9464040" y="1435608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OAuth2 + quotas no gateway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8321040" y="1965960"/>
            <a:ext cx="31546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F5F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Decisão: </a:t>
            </a:r>
            <a:pPr indent="0" marL="0">
              <a:buNone/>
            </a:pPr>
            <a:r>
              <a:rPr lang="en-US" sz="1300" dirty="0">
                <a:solidFill>
                  <a:srgbClr val="14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client_credentials, JWT de 15 min, escopos, quota por cliente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8321040" y="3063240"/>
            <a:ext cx="31546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Descartado: </a:t>
            </a:r>
            <a:pPr indent="0" marL="0">
              <a:buNone/>
            </a:pPr>
            <a:r>
              <a:rPr lang="en-US" sz="1300" dirty="0">
                <a:solidFill>
                  <a:srgbClr val="4A5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key estática (sem expiração nem escopo); mTLS para todos (operação pesada)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548640" y="47548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4A5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ADR-005 está como Proposto: depende de parecer jurídico do País 2.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6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4232B"/>
                </a:solidFill>
              </a:rPr>
              <a:t>Resiliência: como evitar o efeito cascata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457200" cy="457200"/>
          </a:xfrm>
          <a:prstGeom prst="ellipse">
            <a:avLst/>
          </a:prstGeom>
          <a:solidFill>
            <a:srgbClr val="0F5F5C"/>
          </a:solidFill>
          <a:ln w="12700">
            <a:solidFill>
              <a:srgbClr val="0F5F5C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4173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1188720" y="1325880"/>
            <a:ext cx="5760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4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Timeout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188720" y="1664208"/>
            <a:ext cx="5760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A5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150 ms no Catálogo (sem retry interno), 2 s no gateway, 5 s no webhook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48640" y="2404872"/>
            <a:ext cx="457200" cy="457200"/>
          </a:xfrm>
          <a:prstGeom prst="ellipse">
            <a:avLst/>
          </a:prstGeom>
          <a:solidFill>
            <a:srgbClr val="0F5F5C"/>
          </a:solidFill>
          <a:ln w="12700">
            <a:solidFill>
              <a:srgbClr val="0F5F5C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24048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1188720" y="2313432"/>
            <a:ext cx="5760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4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Retry com backoff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188720" y="2651760"/>
            <a:ext cx="5760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A5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Só em operação idempotente, com teto e jitter. Uma camada só repete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48640" y="3392424"/>
            <a:ext cx="457200" cy="457200"/>
          </a:xfrm>
          <a:prstGeom prst="ellipse">
            <a:avLst/>
          </a:prstGeom>
          <a:solidFill>
            <a:srgbClr val="0F5F5C"/>
          </a:solidFill>
          <a:ln w="12700">
            <a:solidFill>
              <a:srgbClr val="0F5F5C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48640" y="339242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1188720" y="3300984"/>
            <a:ext cx="5760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4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Circuit breaker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1188720" y="3639312"/>
            <a:ext cx="5760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A5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Abre com 50% de falha em 20 chamadas; meio-aberto após 30 s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548640" y="4379976"/>
            <a:ext cx="457200" cy="457200"/>
          </a:xfrm>
          <a:prstGeom prst="ellipse">
            <a:avLst/>
          </a:prstGeom>
          <a:solidFill>
            <a:srgbClr val="0F5F5C"/>
          </a:solidFill>
          <a:ln w="12700">
            <a:solidFill>
              <a:srgbClr val="0F5F5C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48640" y="437997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1188720" y="4288536"/>
            <a:ext cx="5760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4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Bulkhead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1188720" y="4626864"/>
            <a:ext cx="5760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A5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Pool separado para criar e consultar; fila e worker por parceiro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548640" y="5367528"/>
            <a:ext cx="457200" cy="457200"/>
          </a:xfrm>
          <a:prstGeom prst="ellipse">
            <a:avLst/>
          </a:prstGeom>
          <a:solidFill>
            <a:srgbClr val="0F5F5C"/>
          </a:solidFill>
          <a:ln w="12700">
            <a:solidFill>
              <a:srgbClr val="0F5F5C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48640" y="53675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1188720" y="5276088"/>
            <a:ext cx="5760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4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Degradação controlada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1188720" y="5614416"/>
            <a:ext cx="5760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A5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Catálogo fora → último preço em cache por até 15 min; sem cache → 503 + Retry-After. Broker fora → outbox acumula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7315200" y="1280160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F5F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Orçamento de latência (p95)</a:t>
            </a:r>
            <a:endParaRPr lang="en-US" sz="16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0" y="1737360"/>
          <a:ext cx="4297680" cy="914400"/>
        </p:xfrm>
        <a:graphic>
          <a:graphicData uri="http://schemas.openxmlformats.org/drawingml/2006/table">
            <a:tbl>
              <a:tblPr/>
              <a:tblGrid>
                <a:gridCol w="338328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Etapa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5F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5F5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3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Gateway (TLS, token, quota)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3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3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Leitura da chave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3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3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Catálogo em lote (sem cache, sem retry)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3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3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Transação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3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3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Serialização e rede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3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3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3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7"/>
                    </a:solidFill>
                  </a:tcPr>
                </a:tc>
              </a:tr>
            </a:tbl>
          </a:graphicData>
        </a:graphic>
      </p:graphicFrame>
      <p:sp>
        <p:nvSpPr>
          <p:cNvPr id="25" name="Text 22"/>
          <p:cNvSpPr txBox="1"/>
          <p:nvPr/>
        </p:nvSpPr>
        <p:spPr>
          <a:xfrm>
            <a:off x="7315200" y="4343400"/>
            <a:ext cx="4297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A5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Pior caso 300 ms: sobram 200 ms para a meta de 500 ms. Com cache quente, o Catálogo cai para menos de 5 ms.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6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4232B"/>
                </a:solidFill>
              </a:rPr>
              <a:t>Segurança e LGPD: threat model (STRIDE)</a:t>
            </a:r>
            <a:endParaRPr lang="en-US" sz="30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80160"/>
          <a:ext cx="11094415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3474720"/>
                <a:gridCol w="4690872"/>
                <a:gridCol w="137160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Área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5F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Ameaça principal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5F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Controle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5F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Quando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5F5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3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Identidade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3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Vazamento de client_secret do parceiro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3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Token de 15 min, rotação, escopo mínimo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3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 dias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3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API pública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3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Parceiro lê pedido de outro (BOLA)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3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Autorização por recurso, 404 para pedido alheio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3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Provado na fatia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7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3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API pública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3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Replay para duplicar pedido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3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Idempotency-Key por cliente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3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 dias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3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API pública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3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Preço manipulado no payload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3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Preço nunca vem do cliente: vem do Catálogo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3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 dias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7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3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Dados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3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Dado pessoal fora do país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3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Coluna de país (célula se a lei exigir); eventos e logs só com IDs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3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 dias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3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Eventos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3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Webhook falso em nosso nome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3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HMAC com timestamp, janela de 5 min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3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 dias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7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3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Dependências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3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SSRF pela URL de webhook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3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Só HTTPS, bloqueio de IP privado, egress controlado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3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 dias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603504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A5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 ameaças mapeadas em docs/05-threat-model.md (inclui IA). LGPD: exclusão por pseudonimização, mantendo o registro fiscal.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6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4232B"/>
                </a:solidFill>
              </a:rPr>
              <a:t>Plano 30 / 60 / 90 dias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371600"/>
            <a:ext cx="822960" cy="822960"/>
          </a:xfrm>
          <a:prstGeom prst="ellipse">
            <a:avLst/>
          </a:prstGeom>
          <a:solidFill>
            <a:srgbClr val="C77A00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40080" y="137160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1600200" y="1463040"/>
            <a:ext cx="2423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4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Parar de errar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548640" y="2468880"/>
            <a:ext cx="3520440" cy="2651760"/>
          </a:xfrm>
          <a:prstGeom prst="roundRect">
            <a:avLst>
              <a:gd name="adj" fmla="val 2759"/>
            </a:avLst>
          </a:prstGeom>
          <a:solidFill>
            <a:srgbClr val="F4F8F7"/>
          </a:solidFill>
          <a:ln w="12700">
            <a:solidFill>
              <a:srgbClr val="F4F8F7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31520" y="260604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4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Idempotency-Key opcional no /v1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4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Snapshot de preço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4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Outbox na transação (dual write)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4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OpenTelemetry e SLOs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4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/v2 implantado, fechado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434840" y="1371600"/>
            <a:ext cx="822960" cy="822960"/>
          </a:xfrm>
          <a:prstGeom prst="ellipse">
            <a:avLst/>
          </a:prstGeom>
          <a:solidFill>
            <a:srgbClr val="0F5F5C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434840" y="137160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</a:t>
            </a:r>
            <a:endParaRPr lang="en-US" sz="2200" dirty="0"/>
          </a:p>
        </p:txBody>
      </p:sp>
      <p:sp>
        <p:nvSpPr>
          <p:cNvPr id="10" name="Text 8"/>
          <p:cNvSpPr txBox="1"/>
          <p:nvPr/>
        </p:nvSpPr>
        <p:spPr>
          <a:xfrm>
            <a:off x="5394960" y="1463040"/>
            <a:ext cx="2423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4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Escalar e abrir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343400" y="2468880"/>
            <a:ext cx="3520440" cy="2651760"/>
          </a:xfrm>
          <a:prstGeom prst="roundRect">
            <a:avLst>
              <a:gd name="adj" fmla="val 2759"/>
            </a:avLst>
          </a:prstGeom>
          <a:solidFill>
            <a:srgbClr val="F4F8F7"/>
          </a:solidFill>
          <a:ln w="12700">
            <a:solidFill>
              <a:srgbClr val="F4F8F7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526280" y="260604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4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Catálogo em lote + cache + CB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4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Relay da outbox + broker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4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Gateway OAuth2, quotas, /v1 e /v2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4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 em produção no /v2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4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Webhooks com parceiros piloto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8229600" y="1371600"/>
            <a:ext cx="822960" cy="822960"/>
          </a:xfrm>
          <a:prstGeom prst="ellipse">
            <a:avLst/>
          </a:prstGeom>
          <a:solidFill>
            <a:srgbClr val="0F5F5C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229600" y="137160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</a:t>
            </a:r>
            <a:endParaRPr lang="en-US" sz="2200" dirty="0"/>
          </a:p>
        </p:txBody>
      </p:sp>
      <p:sp>
        <p:nvSpPr>
          <p:cNvPr id="15" name="Text 13"/>
          <p:cNvSpPr txBox="1"/>
          <p:nvPr/>
        </p:nvSpPr>
        <p:spPr>
          <a:xfrm>
            <a:off x="9189720" y="1463040"/>
            <a:ext cx="2423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4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Expandir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8138160" y="2468880"/>
            <a:ext cx="3520440" cy="2651760"/>
          </a:xfrm>
          <a:prstGeom prst="roundRect">
            <a:avLst>
              <a:gd name="adj" fmla="val 2759"/>
            </a:avLst>
          </a:prstGeom>
          <a:solidFill>
            <a:srgbClr val="F4F8F7"/>
          </a:solidFill>
          <a:ln w="12700">
            <a:solidFill>
              <a:srgbClr val="F4F8F7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321040" y="260604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4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País 2: coluna de país ou célula mínima (parecer)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4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Parceiros em produção com quotas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4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Depreciação do /v1 anunciada (≥ 6 meses)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548640" y="5394960"/>
            <a:ext cx="11094415" cy="640080"/>
          </a:xfrm>
          <a:prstGeom prst="roundRect">
            <a:avLst>
              <a:gd name="adj" fmla="val 11429"/>
            </a:avLst>
          </a:prstGeom>
          <a:solidFill>
            <a:srgbClr val="FDF1DC"/>
          </a:solidFill>
          <a:ln w="12700">
            <a:solidFill>
              <a:srgbClr val="FDF1DC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777240" y="5394960"/>
            <a:ext cx="106372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4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Rollback: toda entrega atrás de feature flag. Migrações só aditivas. Dupla publicação até o último consumidor migrar.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6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4232B"/>
                </a:solidFill>
              </a:rPr>
              <a:t>A prova: um comando, 52 testes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280160"/>
            <a:ext cx="4937760" cy="1005840"/>
          </a:xfrm>
          <a:prstGeom prst="roundRect">
            <a:avLst>
              <a:gd name="adj" fmla="val 7273"/>
            </a:avLst>
          </a:prstGeom>
          <a:solidFill>
            <a:srgbClr val="14232B"/>
          </a:solidFill>
          <a:ln w="12700">
            <a:solidFill>
              <a:srgbClr val="14232B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 txBox="1"/>
          <p:nvPr/>
        </p:nvSpPr>
        <p:spPr>
          <a:xfrm>
            <a:off x="822960" y="1280160"/>
            <a:ext cx="4572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6FD3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dotnet test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423160"/>
            <a:ext cx="4937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A5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Dados sintéticos em data/catalogo-sintetico.json. SQLite, sem Docker.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310896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F5F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(GitHub Actions)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520440"/>
            <a:ext cx="493776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4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e testes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4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Spectral: lint da OpenAPI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4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AsyncAPI CLI: valida o schema de status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4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oasdiff: barra breaking change no contrato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4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NetArchTest: regras de camadas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4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Checagem de ADRs e exceções vencidas</a:t>
            </a:r>
            <a:endParaRPr lang="en-US" sz="14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0" y="1280160"/>
          <a:ext cx="5669280" cy="914400"/>
        </p:xfrm>
        <a:graphic>
          <a:graphicData uri="http://schemas.openxmlformats.org/drawingml/2006/table">
            <a:tbl>
              <a:tblPr/>
              <a:tblGrid>
                <a:gridCol w="4480560"/>
                <a:gridCol w="118872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 teste prova que…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5F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Tipo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5F5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3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Mesma chave + mesmo payload devolve o pedido original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3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positivo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3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Mesma chave + payload diferente → 422, nada criado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3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negativo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3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v2 sem chave → 400, nada criado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3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negativo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3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Chamadas concorrentes com a mesma chave → 1 pedido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3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positivo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3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Consumidor web atual cria e consulta no v1 como antes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3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contrato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3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v1 sem chave mantém o comportamento antigo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3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contrato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3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Evento vai para a outbox junto com o pedido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3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positivo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3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Replay e requisição rejeitada não geram evento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3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negativo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3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Eventos não carregam dado pessoal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3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fitness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6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4232B"/>
                </a:solidFill>
              </a:rPr>
              <a:t>Trade-offs aceitos</a:t>
            </a:r>
            <a:endParaRPr lang="en-US" sz="30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4415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4023360"/>
                <a:gridCol w="3776472"/>
              </a:tblGrid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Escolha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5F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 que ganhamos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5F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Custo aceito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5F5C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423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Chave no banco, não em cache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423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Garantia na mesma transação do pedido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423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Uma escrita a mais por criação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423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Outbox, não publicação direta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423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Evento existe se e só se o pedido existe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423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Atraso de segundos no evento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7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423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Versão na URL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423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Roteamento, métrica e desligamento simples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423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Duas versões ativas por ≥ 6 meses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423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Coluna de país; célula mínima só se a lei exigir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423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Residência sem gastar antes do parecer jurídico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423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Escolha final depende do jurídico até o dia 30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7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423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Preço do momento do pedido + cache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423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Latência estável e auditoria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423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Preço até 60 s defasado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423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Evoluir, não reescrever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423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Entrega em 30 dias, risco baixo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423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Convive com parte do legado por mais tempo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7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6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4232B"/>
                </a:solidFill>
              </a:rPr>
              <a:t>IA: assistente de consulta para o atendimento</a:t>
            </a:r>
            <a:endParaRPr lang="en-US" sz="3000" dirty="0"/>
          </a:p>
        </p:txBody>
      </p:sp>
      <p:pic>
        <p:nvPicPr>
          <p:cNvPr id="3" name="diagrama-8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60545"/>
            <a:ext cx="6309360" cy="2639630"/>
          </a:xfrm>
          <a:prstGeom prst="rect">
            <a:avLst/>
          </a:prstGeom>
        </p:spPr>
      </p:pic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132320" y="1280160"/>
          <a:ext cx="448056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31089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Controle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5F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5F5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23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Isolamento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23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Um orquestrador por célula, modelo na mesma região, sem retenção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23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Minimização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23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Nome, documento e endereço nunca vão para o prompt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23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Guardrails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23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Só ferramentas de leitura; dado de pedido nunca vira instrução; sem fonte, responde "não sei"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23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Avaliação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23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 perguntas sintéticas; exatidão ≥ 90%, 0 vazamento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7"/>
                    </a:solidFill>
                  </a:tcPr>
                </a:tc>
              </a:tr>
            </a:tbl>
          </a:graphicData>
        </a:graphic>
      </p:graphicFrame>
      <p:sp>
        <p:nvSpPr>
          <p:cNvPr id="5" name="Shape 1"/>
          <p:cNvSpPr/>
          <p:nvPr/>
        </p:nvSpPr>
        <p:spPr>
          <a:xfrm>
            <a:off x="548640" y="4800600"/>
            <a:ext cx="6309360" cy="1188720"/>
          </a:xfrm>
          <a:prstGeom prst="roundRect">
            <a:avLst>
              <a:gd name="adj" fmla="val 6154"/>
            </a:avLst>
          </a:prstGeom>
          <a:solidFill>
            <a:srgbClr val="E6F2EF"/>
          </a:solidFill>
          <a:ln w="12700">
            <a:solidFill>
              <a:srgbClr val="E6F2EF"/>
            </a:solidFill>
            <a:prstDash val="solid"/>
          </a:ln>
        </p:spPr>
      </p:sp>
      <p:sp>
        <p:nvSpPr>
          <p:cNvPr id="6" name="Text 2"/>
          <p:cNvSpPr txBox="1"/>
          <p:nvPr/>
        </p:nvSpPr>
        <p:spPr>
          <a:xfrm>
            <a:off x="777240" y="4892040"/>
            <a:ext cx="5852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F5F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Uso de IA neste desafio</a:t>
            </a:r>
            <a:endParaRPr lang="en-US" sz="1500" dirty="0"/>
          </a:p>
        </p:txBody>
      </p:sp>
      <p:sp>
        <p:nvSpPr>
          <p:cNvPr id="7" name="Text 3"/>
          <p:cNvSpPr txBox="1"/>
          <p:nvPr/>
        </p:nvSpPr>
        <p:spPr>
          <a:xfrm>
            <a:off x="777240" y="5257800"/>
            <a:ext cx="5852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4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Prompts, validações e decisões rejeitadas estão em docs/uso-de-ia.md. Toda saída foi conferida contra o requisito e pelos testes.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6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4232B"/>
                </a:solidFill>
              </a:rPr>
              <a:t>Investimento, riscos e o que depende do cliente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280160"/>
            <a:ext cx="3291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0F5F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~116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96596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A5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pessoa-dia na fase de 30 dias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697480"/>
            <a:ext cx="3291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0F5F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~R$ 93 mil</a:t>
            </a:r>
            <a:endParaRPr lang="en-US" sz="36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338328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A5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 da fase 1 sem IA (~R$ 79 mil com IA)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4114800"/>
            <a:ext cx="3291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0F5F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~5,25 FTE</a:t>
            </a:r>
            <a:endParaRPr lang="en-US" sz="36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480060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A5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arquiteto, TL, 2 devs, QA, SRE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206240" y="1280160"/>
            <a:ext cx="3566160" cy="3291840"/>
          </a:xfrm>
          <a:prstGeom prst="roundRect">
            <a:avLst>
              <a:gd name="adj" fmla="val 2222"/>
            </a:avLst>
          </a:prstGeom>
          <a:solidFill>
            <a:srgbClr val="FBE9E7"/>
          </a:solidFill>
          <a:ln w="12700">
            <a:solidFill>
              <a:srgbClr val="FBE9E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 txBox="1"/>
          <p:nvPr/>
        </p:nvSpPr>
        <p:spPr>
          <a:xfrm>
            <a:off x="4434840" y="141732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Riscos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4434840" y="1874520"/>
            <a:ext cx="310896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4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Tráfego real desconhecido (premissa 20 → 200 criações/s)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4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Regra de residência do 2º país indefinida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4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Consumidores de eventos não mapeados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4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demorar a mandar a chave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8046720" y="1280160"/>
            <a:ext cx="3593592" cy="3291840"/>
          </a:xfrm>
          <a:prstGeom prst="roundRect">
            <a:avLst>
              <a:gd name="adj" fmla="val 2222"/>
            </a:avLst>
          </a:prstGeom>
          <a:solidFill>
            <a:srgbClr val="FDF1DC"/>
          </a:solidFill>
          <a:ln w="12700">
            <a:solidFill>
              <a:srgbClr val="FDF1DC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 txBox="1"/>
          <p:nvPr/>
        </p:nvSpPr>
        <p:spPr>
          <a:xfrm>
            <a:off x="8275320" y="141732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C77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Validar com o cliente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8275320" y="1874520"/>
            <a:ext cx="315468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4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de tráfego e contrato v1 real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4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País e parecer jurídico (LGPD + lei local)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4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Preço do momento do pedido, cache de 60 s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4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Retenção da chave em 24 h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4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Nuvem, broker e gateway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4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Salário de SRE, tributos e margem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6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914400"/>
            <a:ext cx="10058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Recomendação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548640" y="2103120"/>
            <a:ext cx="777240" cy="777240"/>
          </a:xfrm>
          <a:prstGeom prst="ellipse">
            <a:avLst/>
          </a:prstGeom>
          <a:solidFill>
            <a:srgbClr val="0F5F5C"/>
          </a:solidFill>
          <a:ln w="12700">
            <a:solidFill>
              <a:srgbClr val="0F5F5C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210312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1554480" y="2103120"/>
            <a:ext cx="9601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E3EC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Parar de errar: idempotência, snapshot e outbox, com o contrato atual intacto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548640" y="3246120"/>
            <a:ext cx="777240" cy="777240"/>
          </a:xfrm>
          <a:prstGeom prst="ellipse">
            <a:avLst/>
          </a:prstGeom>
          <a:solidFill>
            <a:srgbClr val="0F5F5C"/>
          </a:solidFill>
          <a:ln w="12700">
            <a:solidFill>
              <a:srgbClr val="0F5F5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324612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554480" y="3246120"/>
            <a:ext cx="9601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E3EC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Escalar e abrir: Catálogo em lote, broker, gateway, app no /v2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548640" y="4389120"/>
            <a:ext cx="777240" cy="777240"/>
          </a:xfrm>
          <a:prstGeom prst="ellipse">
            <a:avLst/>
          </a:prstGeom>
          <a:solidFill>
            <a:srgbClr val="0F5F5C"/>
          </a:solidFill>
          <a:ln w="12700">
            <a:solidFill>
              <a:srgbClr val="0F5F5C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438912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1554480" y="4389120"/>
            <a:ext cx="9601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E3EC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Expandir: segundo país (célula mínima só se a lei exigir) e parceiros em produção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566928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i="1" dirty="0">
                <a:solidFill>
                  <a:srgbClr val="6FD3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 reescrita, sem janela de indisponibilidade, e a decisão mais arriscada já está provada em código.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23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Pedidos e Catálogo – evolução arquitetural</dc:title>
  <dc:subject>PptxGenJS Presentation</dc:subject>
  <dc:creator>PptxGenJS</dc:creator>
  <cp:lastModifiedBy>PptxGenJS</cp:lastModifiedBy>
  <cp:revision>1</cp:revision>
  <dcterms:created xsi:type="dcterms:W3CDTF">2026-10-21T22:06:16Z</dcterms:created>
  <dcterms:modified xsi:type="dcterms:W3CDTF">2026-10-21T22:06:16Z</dcterms:modified>
</cp:coreProperties>
</file>