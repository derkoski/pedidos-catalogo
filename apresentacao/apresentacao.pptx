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14232B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4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e Catálogo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03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8C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arquitetural incremental, sem downtime e sem quebrar quem já usa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6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dias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54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E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app, marketplace e 2º país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337560" y="3931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6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4754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E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tráfego projetado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3931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6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99,9%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4754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E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 mensal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931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6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ms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915400" y="4754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E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na criação de pedido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6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técnico · COE Arquitetura de Soluções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2B"/>
                </a:solidFill>
              </a:rPr>
              <a:t>O que muda em 90 dias e o que não pode quebrar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consumidores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48840"/>
            <a:ext cx="457200" cy="457200"/>
          </a:xfrm>
          <a:prstGeom prst="ellipse">
            <a:avLst/>
          </a:prstGeom>
          <a:solidFill>
            <a:srgbClr val="0F5F5C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476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móvel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31343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canal, precisa de API estável e retry seguro em rede ruim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520440"/>
            <a:ext cx="457200" cy="457200"/>
          </a:xfrm>
          <a:prstGeom prst="ellipse">
            <a:avLst/>
          </a:prstGeom>
          <a:solidFill>
            <a:srgbClr val="0F5F5C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3192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Parceiros de marketplace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68503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pública versionada e notificação assíncrona de status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892040"/>
            <a:ext cx="457200" cy="457200"/>
          </a:xfrm>
          <a:prstGeom prst="ellipse">
            <a:avLst/>
          </a:prstGeom>
          <a:solidFill>
            <a:srgbClr val="0F5F5C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6908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país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505663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Moeda, preço por país e dados pessoais no próprio país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1280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7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Restrições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0" y="178308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29400" y="18928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7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629400" y="2240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atuais continuam compatíveis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0" y="2807208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29400" y="291693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7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dias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629400" y="32644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melhoria segura em produção, sem janela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0" y="3831336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39410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7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· 99,9% · 500 ms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428853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escala, disponibilidade e latência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0" y="4855464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29400" y="49651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7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629400" y="53126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residência de dados do novo país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2B"/>
                </a:solidFill>
              </a:rPr>
              <a:t>Arquitetura atual (C4: contexto e contêineres)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pic>
        <p:nvPicPr>
          <p:cNvPr id="4" name="diagrama-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92665"/>
            <a:ext cx="6949440" cy="158667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Contêineres</a:t>
            </a:r>
            <a:endParaRPr lang="en-US" sz="1200" dirty="0"/>
          </a:p>
        </p:txBody>
      </p:sp>
      <p:pic>
        <p:nvPicPr>
          <p:cNvPr id="6" name="diagrama-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53543"/>
            <a:ext cx="6949440" cy="198555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95528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falha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7955280" y="1691640"/>
            <a:ext cx="3703320" cy="91440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138160" y="18013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lento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138160" y="21488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derruba a criação (cascata)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955280" y="2788920"/>
            <a:ext cx="3703320" cy="91440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138160" y="28986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+ retry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138160" y="3246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duplicado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955280" y="3886200"/>
            <a:ext cx="3703320" cy="91440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138160" y="39959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e publish separados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8138160" y="4343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perdido ou fantasma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7955280" y="4983480"/>
            <a:ext cx="3703320" cy="91440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138160" y="50932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único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8138160" y="5440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tudo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2B"/>
                </a:solidFill>
              </a:rPr>
              <a:t>Onde dói quando o tráfego multiplica por 10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2240280"/>
          </a:xfrm>
          <a:prstGeom prst="roundRect">
            <a:avLst>
              <a:gd name="adj" fmla="val 3265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108960" y="1591056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108960" y="15910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sem idempotency key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517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e cobrança em dobro. Mais tráfego, mais timeout, mais retry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371600"/>
            <a:ext cx="3520440" cy="2240280"/>
          </a:xfrm>
          <a:prstGeom prst="roundRect">
            <a:avLst>
              <a:gd name="adj" fmla="val 3265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903720" y="1591056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03720" y="15910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0574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fora da transação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6517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 recebe evento de pedido que não existe, ou não recebe nada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1371600"/>
            <a:ext cx="3520440" cy="2240280"/>
          </a:xfrm>
          <a:prstGeom prst="roundRect">
            <a:avLst>
              <a:gd name="adj" fmla="val 3265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6760" y="1554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10698480" y="1591056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698480" y="15910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20574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N+1 síncrono no Catálogo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26517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cresce com o nº de itens; Catálogo fora derruba Pedidos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886200"/>
            <a:ext cx="3520440" cy="2240280"/>
          </a:xfrm>
          <a:prstGeom prst="roundRect">
            <a:avLst>
              <a:gd name="adj" fmla="val 3265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069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3108960" y="4105656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C77A00"/>
          </a:solidFill>
          <a:ln w="12700">
            <a:solidFill>
              <a:srgbClr val="C77A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108960" y="41056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5720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snapshot de preço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51663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"muda" quando o Catálogo muda. Sem auditoria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343400" y="3886200"/>
            <a:ext cx="3520440" cy="2240280"/>
          </a:xfrm>
          <a:prstGeom prst="roundRect">
            <a:avLst>
              <a:gd name="adj" fmla="val 3265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0" y="4069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6903720" y="4105656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03720" y="41056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0" y="45720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versionamento de API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0" y="51663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mudança para app ou parceiro pode quebrar o web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138160" y="3886200"/>
            <a:ext cx="3520440" cy="2240280"/>
          </a:xfrm>
          <a:prstGeom prst="roundRect">
            <a:avLst>
              <a:gd name="adj" fmla="val 3265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66760" y="4069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10698480" y="4105656"/>
            <a:ext cx="731520" cy="29260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698480" y="41056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8366760" y="45720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pessoais sem separação por país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8366760" y="51663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Bloqueia a entrada no 2º país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2B"/>
                </a:solidFill>
              </a:rPr>
              <a:t>Decisão crítica: criar pedido sem duplicar e sem quebrar ninguém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120640" cy="3931920"/>
          </a:xfrm>
          <a:prstGeom prst="roundRect">
            <a:avLst>
              <a:gd name="adj" fmla="val 1860"/>
            </a:avLst>
          </a:prstGeom>
          <a:solidFill>
            <a:srgbClr val="14232B"/>
          </a:solidFill>
          <a:ln w="12700">
            <a:solidFill>
              <a:srgbClr val="1423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fatia prova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Idempotency-Key: mesma chave não cria outro pedido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/v1 igual ao de hoje, /v2 novo, lado a lado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de preço e descrição no item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Pedido, chave e outbox na mesma transação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319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E2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Ataca P1, P2, P4 e P5 dentro do serviço de Pedidos, sem infraestrutura nova. Cabe em 30 dias e é pré-requisito do resto: sem idempotência, qualquer retry que a gente colocar depois aumenta a duplicidade.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3258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começar por outra coisa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828800"/>
          <a:ext cx="55778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que não agora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F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Separar Catálogo de Pedidos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 grande, não entrega em 30 dias e não resolve duplicidade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Strangler Fig com gateway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 no plano (é como v1 e v2 convivem), mas sozinho não prova consistência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/ lote no Catálogo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 latência (P3). É a entrega dos 60 dias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Outbox com relay e broker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gravação entra agora; relay e broker dependem da escolha de infraestrutura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2B"/>
                </a:solidFill>
              </a:rPr>
              <a:t>Bounded contexts: quem é dono de quê</a:t>
            </a:r>
            <a:endParaRPr lang="en-US" sz="3000" dirty="0"/>
          </a:p>
        </p:txBody>
      </p:sp>
      <p:pic>
        <p:nvPicPr>
          <p:cNvPr id="3" name="diagrama-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60520"/>
            <a:ext cx="6035040" cy="2948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57200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contexto é dono do seu banco. Ninguém lê o banco do outro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copia o que precisa do Catálogo (snapshot), não guarda referência viva de preço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do cliente fica em Clientes/Conta; Pedidos guarda só contato e entrega do pedido, no país do pedido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e webhooks levam só IDs e status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280160"/>
          <a:ext cx="47548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92024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possui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F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Catálogo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Produto, preço vigente por país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Pedido, cliente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Pedidos (core)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Pedido, item + snapshot, status, chave, outbox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 vigente, pagamento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Notificações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Assinaturas, entregas, DLQ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 do pedido além de ID/status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Acesso e Parceiros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Clientes de API, escopos, quotas, país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858000" y="47548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é upstream de Pedidos. Pagamento e Logística entram por camada anticorrupção. Parceiros consomem a linguagem publicada (OpenAPI v2 + AsyncAPI).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2B"/>
                </a:solidFill>
              </a:rPr>
              <a:t>Arquitetura-alvo: contexto</a:t>
            </a:r>
            <a:endParaRPr lang="en-US" sz="3000" dirty="0"/>
          </a:p>
        </p:txBody>
      </p:sp>
      <p:pic>
        <p:nvPicPr>
          <p:cNvPr id="3" name="diagrama-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72541"/>
            <a:ext cx="7680960" cy="27529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59536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entra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8595360" y="1828800"/>
            <a:ext cx="3108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móvel e parceiros pela API v2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de status para parceiros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Provedor de identidade (OAuth2/OIDC)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de consulta para o atendimento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plataforma em BR e País 2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595360" y="5577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7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sistema, evoluído. Sem reescrita.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2B"/>
                </a:solidFill>
              </a:rPr>
              <a:t>Arquitetura-alvo: contêineres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103120" cy="3429000"/>
          </a:xfrm>
          <a:prstGeom prst="roundRect">
            <a:avLst>
              <a:gd name="adj" fmla="val 2609"/>
            </a:avLst>
          </a:prstGeom>
          <a:solidFill>
            <a:srgbClr val="FAFCFB"/>
          </a:solidFill>
          <a:ln w="15875">
            <a:solidFill>
              <a:srgbClr val="B3261E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658368" y="128930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(não confiável)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E6F2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91640"/>
            <a:ext cx="17373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E6F2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423160"/>
            <a:ext cx="17373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15468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E6F2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154680"/>
            <a:ext cx="17373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71800" y="1234440"/>
            <a:ext cx="1828800" cy="3429000"/>
          </a:xfrm>
          <a:prstGeom prst="roundRect">
            <a:avLst>
              <a:gd name="adj" fmla="val 3000"/>
            </a:avLst>
          </a:prstGeom>
          <a:solidFill>
            <a:srgbClr val="FAFCFB"/>
          </a:solidFill>
          <a:ln w="15875">
            <a:solidFill>
              <a:srgbClr val="C77A00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3081528" y="1289304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7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08960" y="1920240"/>
            <a:ext cx="1554480" cy="1737360"/>
          </a:xfrm>
          <a:prstGeom prst="roundRect">
            <a:avLst>
              <a:gd name="adj" fmla="val 3529"/>
            </a:avLst>
          </a:prstGeom>
          <a:solidFill>
            <a:srgbClr val="FDF1DC"/>
          </a:solidFill>
          <a:ln w="12700">
            <a:solidFill>
              <a:srgbClr val="C77A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08960" y="1920240"/>
            <a:ext cx="155448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+ API Gateway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OAuth2, quotas,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roteia v1/v2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por país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51760" y="2788920"/>
            <a:ext cx="457200" cy="0"/>
          </a:xfrm>
          <a:prstGeom prst="line">
            <a:avLst/>
          </a:prstGeom>
          <a:noFill/>
          <a:ln w="15875">
            <a:solidFill>
              <a:srgbClr val="4A5A6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20640" y="1234440"/>
            <a:ext cx="4069080" cy="3429000"/>
          </a:xfrm>
          <a:prstGeom prst="roundRect">
            <a:avLst>
              <a:gd name="adj" fmla="val 1600"/>
            </a:avLst>
          </a:prstGeom>
          <a:solidFill>
            <a:srgbClr val="FAFCFB"/>
          </a:solidFill>
          <a:ln w="15875">
            <a:solidFill>
              <a:srgbClr val="0F5F5C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5230368" y="1289304"/>
            <a:ext cx="3849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 BR (api-br) · dados pessoais BR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0" y="169164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E6F2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03520" y="1691640"/>
            <a:ext cx="17830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Pedidos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69480" y="169164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E6F2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69480" y="1691640"/>
            <a:ext cx="173736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da outbox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(lê a outbox)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03520" y="2560320"/>
            <a:ext cx="1783080" cy="914400"/>
          </a:xfrm>
          <a:prstGeom prst="can">
            <a:avLst>
              <a:gd name="adj" fmla="val 6000"/>
            </a:avLst>
          </a:prstGeom>
          <a:solidFill>
            <a:srgbClr val="E6F2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03520" y="2670048"/>
            <a:ext cx="1783080" cy="8046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Pedidos BR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pedido, snapshot,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chave, outbox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69480" y="260604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E6F2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269480" y="2606040"/>
            <a:ext cx="173736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no broker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compartilhado (só IDs)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03520" y="374904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E6F2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03520" y="3749040"/>
            <a:ext cx="178308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 reconciliação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269480" y="3611880"/>
            <a:ext cx="1737360" cy="685800"/>
          </a:xfrm>
          <a:prstGeom prst="roundRect">
            <a:avLst>
              <a:gd name="adj" fmla="val 8000"/>
            </a:avLst>
          </a:prstGeom>
          <a:solidFill>
            <a:srgbClr val="E6F2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69480" y="3611880"/>
            <a:ext cx="173736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do Catálogo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(TTL 60 s)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1965960"/>
            <a:ext cx="640080" cy="0"/>
          </a:xfrm>
          <a:prstGeom prst="line">
            <a:avLst/>
          </a:prstGeom>
          <a:noFill/>
          <a:ln w="15875">
            <a:solidFill>
              <a:srgbClr val="4A5A6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195060" y="2240280"/>
            <a:ext cx="0" cy="347472"/>
          </a:xfrm>
          <a:prstGeom prst="line">
            <a:avLst/>
          </a:prstGeom>
          <a:noFill/>
          <a:ln w="15875">
            <a:solidFill>
              <a:srgbClr val="4A5A63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138160" y="2240280"/>
            <a:ext cx="0" cy="365760"/>
          </a:xfrm>
          <a:prstGeom prst="line">
            <a:avLst/>
          </a:prstGeom>
          <a:noFill/>
          <a:ln w="15875">
            <a:solidFill>
              <a:srgbClr val="4A5A63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464040" y="1234440"/>
            <a:ext cx="2176272" cy="3429000"/>
          </a:xfrm>
          <a:prstGeom prst="roundRect">
            <a:avLst>
              <a:gd name="adj" fmla="val 2521"/>
            </a:avLst>
          </a:prstGeom>
          <a:solidFill>
            <a:srgbClr val="FAFCFB"/>
          </a:solidFill>
          <a:ln w="15875">
            <a:solidFill>
              <a:srgbClr val="0F5F5C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9573768" y="1289304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 País 2 · só se a lei exigir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601200" y="1691640"/>
            <a:ext cx="1901952" cy="548640"/>
          </a:xfrm>
          <a:prstGeom prst="roundRect">
            <a:avLst>
              <a:gd name="adj" fmla="val 10000"/>
            </a:avLst>
          </a:prstGeom>
          <a:solidFill>
            <a:srgbClr val="E6F2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601200" y="1691640"/>
            <a:ext cx="1901952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Pedidos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601200" y="2423160"/>
            <a:ext cx="1901952" cy="822960"/>
          </a:xfrm>
          <a:prstGeom prst="can">
            <a:avLst>
              <a:gd name="adj" fmla="val 6667"/>
            </a:avLst>
          </a:prstGeom>
          <a:solidFill>
            <a:srgbClr val="E6F2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601200" y="2532888"/>
            <a:ext cx="1901952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Pedidos País 2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601200" y="3474720"/>
            <a:ext cx="1901952" cy="822960"/>
          </a:xfrm>
          <a:prstGeom prst="roundRect">
            <a:avLst>
              <a:gd name="adj" fmla="val 6667"/>
            </a:avLst>
          </a:prstGeom>
          <a:solidFill>
            <a:srgbClr val="E6F2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601200" y="3474720"/>
            <a:ext cx="1901952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+ reconciliação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do Catálogo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9601200" y="431596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código, host api-p2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971800" y="4892040"/>
            <a:ext cx="8668512" cy="1508760"/>
          </a:xfrm>
          <a:prstGeom prst="roundRect">
            <a:avLst>
              <a:gd name="adj" fmla="val 3636"/>
            </a:avLst>
          </a:prstGeom>
          <a:solidFill>
            <a:srgbClr val="FAFCFB"/>
          </a:solidFill>
          <a:ln w="15875">
            <a:solidFill>
              <a:srgbClr val="4A5A63"/>
            </a:solidFill>
            <a:prstDash val="dash"/>
          </a:ln>
        </p:spPr>
      </p:sp>
      <p:sp>
        <p:nvSpPr>
          <p:cNvPr id="44" name="Text 42"/>
          <p:cNvSpPr txBox="1"/>
          <p:nvPr/>
        </p:nvSpPr>
        <p:spPr>
          <a:xfrm>
            <a:off x="3081528" y="4946904"/>
            <a:ext cx="8449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Compartilhado · sem dados pessoais · observabilidade (OpenTelemetry)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154680" y="534924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E6F2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154680" y="5349240"/>
            <a:ext cx="201168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Catálogo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em lote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532120" y="5349240"/>
            <a:ext cx="1645920" cy="777240"/>
          </a:xfrm>
          <a:prstGeom prst="can">
            <a:avLst>
              <a:gd name="adj" fmla="val 7059"/>
            </a:avLst>
          </a:prstGeom>
          <a:solidFill>
            <a:srgbClr val="E6F2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532120" y="5458968"/>
            <a:ext cx="1645920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Catálogo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543800" y="5349240"/>
            <a:ext cx="1645920" cy="777240"/>
          </a:xfrm>
          <a:prstGeom prst="can">
            <a:avLst>
              <a:gd name="adj" fmla="val 7059"/>
            </a:avLst>
          </a:prstGeom>
          <a:solidFill>
            <a:srgbClr val="E6F2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543800" y="5458968"/>
            <a:ext cx="1645920" cy="6675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consumidores internos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555480" y="5349240"/>
            <a:ext cx="1920240" cy="777240"/>
          </a:xfrm>
          <a:prstGeom prst="roundRect">
            <a:avLst>
              <a:gd name="adj" fmla="val 7059"/>
            </a:avLst>
          </a:prstGeom>
          <a:solidFill>
            <a:srgbClr val="E6F2EF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555480" y="5349240"/>
            <a:ext cx="192024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Notificador de webhooks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parceiro (HMAC)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166360" y="5733288"/>
            <a:ext cx="365760" cy="0"/>
          </a:xfrm>
          <a:prstGeom prst="line">
            <a:avLst/>
          </a:prstGeom>
          <a:noFill/>
          <a:ln w="15875">
            <a:solidFill>
              <a:srgbClr val="4A5A63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 flipH="1">
            <a:off x="4160520" y="4663440"/>
            <a:ext cx="1143000" cy="685800"/>
          </a:xfrm>
          <a:prstGeom prst="line">
            <a:avLst/>
          </a:prstGeom>
          <a:noFill/>
          <a:ln w="15875">
            <a:solidFill>
              <a:srgbClr val="4A5A63"/>
            </a:solidFill>
            <a:prstDash val="solid"/>
            <a:tailEnd type="triangle"/>
          </a:ln>
        </p:spPr>
      </p:sp>
      <p:sp>
        <p:nvSpPr>
          <p:cNvPr id="56" name="Text 54"/>
          <p:cNvSpPr txBox="1"/>
          <p:nvPr/>
        </p:nvSpPr>
        <p:spPr>
          <a:xfrm>
            <a:off x="2743200" y="46634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lote, timeout 150 ms, CB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548640" y="49834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tracejada = fronteira de confiança. Dado pessoal não sai do país. Sem exigência de localização, pedidos do País 2 ficam no banco BR com country (ADR-005).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2B"/>
                </a:solidFill>
              </a:rPr>
              <a:t>Fronteiras de confiança e pontos de falha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Fronteiras de confiança</a:t>
            </a:r>
            <a:endParaRPr lang="en-US" sz="1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3949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2918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Fronteira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F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→ Borda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 1.2+, WAF, OAuth2/JWT, quotas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Borda → Célula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mTLS, claims (cliente, escopo, país)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Célula → Compartilhado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IDs; dado pessoal não sai da célula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Célula → Parceiro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Webhook HMAC, só ID e status, URL validada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Célula → Observabilidade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Mascaramento de dado pessoal no coletor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263640" y="12344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falha no alvo</a:t>
            </a:r>
            <a:endParaRPr lang="en-US" sz="17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691640"/>
          <a:ext cx="537667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4564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acontece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F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Catálogo lento ou fora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 cache; sem cache, 503 + Retry-After (seguro pela idempotência)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Broker fora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Outbox acumula; pedidos continuam sendo criados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Parceiro fora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 e DLQ; parceiro reconcilia pela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Banco da célula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Failover para réplica; a outra célula segue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Múltiplas zonas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2B"/>
                </a:solidFill>
              </a:rPr>
              <a:t>Cada atributo de qualidade tem um mecanismo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760720"/>
                <a:gridCol w="32278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Mecanismo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medimos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F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 10x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Catálogo em lote + cache, Pedidos stateless com autoescala, células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criações/s em teste de carga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Disponibilidade 99,9%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Multi-zona, outbox desacopla o broker, circuit breaker, canário + feature flag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43 min de 5xx por mês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p95 500 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chamada em lote ao Catálogo, cache, orçamento de latência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p95 ≤ 500 ms no gateway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Consistência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Idempotency-Key, snapshot + outbox na mesma transação, dedup por eventId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duplicatas, 0 eventos perdidos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Auditabilidade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Snapshot de preço, histórico de status com autor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dos itens com snapshot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Segurança / LGPD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OAuth2 com escopos, célula por país, eventos sem dado pessoal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 para recurso alheio, 429 na quota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Evolução sem quebra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/v1 e /v2 em paralelo, teste de contrato no CI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 do consumidor v1 verde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2B"/>
                </a:solidFill>
              </a:rPr>
              <a:t>Sequência: criação de pedido (v2)</a:t>
            </a:r>
            <a:endParaRPr lang="en-US" sz="3000" dirty="0"/>
          </a:p>
        </p:txBody>
      </p:sp>
      <p:pic>
        <p:nvPicPr>
          <p:cNvPr id="3" name="diagrama-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118939" cy="5212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4672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respostas possíveis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8046720" y="178308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F5F5C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0" y="17830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+ mesmo corpo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213055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existe, mesmo payload (replay)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046720" y="269748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46720" y="26974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304495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existe, payload diferente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46720" y="361188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C77A00"/>
          </a:solidFill>
          <a:ln w="12700">
            <a:solidFill>
              <a:srgbClr val="C77A0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46720" y="36118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395935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ainda em processamento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46720" y="452628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F5F5C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46720" y="45262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046720" y="487375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nova: pedido, chave e outbox no mesmo COMMIT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046720" y="5486400"/>
            <a:ext cx="3611880" cy="822960"/>
          </a:xfrm>
          <a:prstGeom prst="roundRect">
            <a:avLst>
              <a:gd name="adj" fmla="val 8889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83880" y="5550408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chamadas ao mesmo tempo: a UNIQUE derruba uma; ela relê e devolve o pedido original.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2B"/>
                </a:solidFill>
              </a:rPr>
              <a:t>Sequência: mudança de status e notificação</a:t>
            </a:r>
            <a:endParaRPr lang="en-US" sz="3000" dirty="0"/>
          </a:p>
        </p:txBody>
      </p:sp>
      <p:pic>
        <p:nvPicPr>
          <p:cNvPr id="3" name="diagrama-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9468"/>
            <a:ext cx="11094415" cy="400474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548640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55504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menos uma vez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58704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 deduplica por eventId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364992" y="548640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02152" y="55504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por pedido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502152" y="58704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Partição por orderId; campo version descarta evento velho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81344" y="548640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18504" y="55504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 fora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318504" y="58704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exponencial até 24 h, depois DLQ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997696" y="548640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34856" y="55504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Reconciliação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134856" y="58704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 pode consultar GET /v2/orders/{id}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2B"/>
                </a:solidFill>
              </a:rPr>
              <a:t>Síncrono ou assíncrono: regra simples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14232B"/>
          </a:solidFill>
          <a:ln w="12700">
            <a:solidFill>
              <a:srgbClr val="1423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28016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Síncrono só quando a resposta depende do dado e o dado precisa estar atual. O resto é assíncrono.</a:t>
            </a:r>
            <a:endParaRPr lang="en-US" sz="1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828800"/>
                <a:gridCol w="615391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quê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F5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 → criar pedido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Síncrono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 precisa do ID e do total. A chave de idempotência torna o retry seguro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 → consultar pedido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Síncrono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Leitura simples, dado local da célula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Pedidos → Catálogo (preço)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Síncrono, em lote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 precisa estar certo na hora. Lote + cache resolve N+1 e latência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Pedidos → parceiros e sistemas internos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Assíncrono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Outbox → broker → webhook. Parceiro lento não afeta a criação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Pagamento / Logística → Pedidos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Assíncrono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Origem externa com retry próprio; dedup pelo ID da origem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2B"/>
                </a:solidFill>
              </a:rPr>
              <a:t>Decisões (ADRs): consistência e contrato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6304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F5F5C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4356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Idempotência na criação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659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</a:t>
            </a:r>
            <a:pPr indent="0" marL="0">
              <a:buNone/>
            </a:pPr>
            <a:r>
              <a:rPr lang="en-US" sz="13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Idempotency-Key do cliente, gravada no banco com hash do payload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432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Descartado: </a:t>
            </a:r>
            <a:pPr indent="0" marL="0">
              <a:buNone/>
            </a:pPr>
            <a:r>
              <a:rPr lang="en-US" sz="13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Redis (perde garantia e fica fora da transação); dedup por conteúdo (falso positivo)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46304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F5F5C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4630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14356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transacional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19659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</a:t>
            </a:r>
            <a:pPr indent="0" marL="0">
              <a:buNone/>
            </a:pPr>
            <a:r>
              <a:rPr lang="en-US" sz="13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gravado na mesma transação; relay publica depois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74320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Descartado: </a:t>
            </a:r>
            <a:pPr indent="0" marL="0">
              <a:buNone/>
            </a:pPr>
            <a:r>
              <a:rPr lang="en-US" sz="13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após commit (perde evento); 2PC (acopla e é lento); CDC fica como evolução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0233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F5F5C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0233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39959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+ Catálogo em lote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5262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</a:t>
            </a:r>
            <a:pPr indent="0" marL="0">
              <a:buNone/>
            </a:pPr>
            <a:r>
              <a:rPr lang="en-US" sz="13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chamada por pedido, cache de 60 s, preço gravado no item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3035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Descartado: </a:t>
            </a:r>
            <a:pPr indent="0" marL="0">
              <a:buNone/>
            </a:pPr>
            <a:r>
              <a:rPr lang="en-US" sz="13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 local do Catálogo (preço velho, mais um modelo para manter)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384048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40233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F5F5C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40233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543800" y="39959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na URL, v1 e v2 juntos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45262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</a:t>
            </a:r>
            <a:pPr indent="0" marL="0">
              <a:buNone/>
            </a:pPr>
            <a:r>
              <a:rPr lang="en-US" sz="13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/v1 intacto, /v2 novo, mesmo backend. v1 vive ≥ 6 meses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53035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Descartado: </a:t>
            </a:r>
            <a:pPr indent="0" marL="0">
              <a:buNone/>
            </a:pPr>
            <a:r>
              <a:rPr lang="en-US" sz="13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Mudar no lugar (quebra o web); versão por header (pior para parceiro e gateway)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2B"/>
                </a:solidFill>
              </a:rPr>
              <a:t>Decisões (ADRs): país, parceiros e acesso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6304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F5F5C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4356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 de país ou célula mínima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659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país vem do client_id; célula mínima (API + banco na região) só se a lei exigir. Broker e Catálogo compartilhados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632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Descartado: célula completa com broker e notificador por país (custo sem ganho de conformidade); plataforma inteira duplicada</a:t>
            </a:r>
            <a:pPr indent="0" marL="0">
              <a:buNone/>
            </a:pP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28016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46304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F5F5C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14630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14356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assinados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19659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</a:t>
            </a:r>
            <a:pPr indent="0" marL="0">
              <a:buNone/>
            </a:pPr>
            <a:r>
              <a:rPr lang="en-US" sz="13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HMAC, retry 24 h, DLQ, fila por parceiro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30632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Descartado: </a:t>
            </a:r>
            <a:pPr indent="0" marL="0">
              <a:buNone/>
            </a:pPr>
            <a:r>
              <a:rPr lang="en-US" sz="13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 direto no broker (expõe infraestrutura); só polling (carga e atraso)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1280160"/>
            <a:ext cx="3520440" cy="2926080"/>
          </a:xfrm>
          <a:prstGeom prst="roundRect">
            <a:avLst>
              <a:gd name="adj" fmla="val 2500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146304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0F5F5C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0" y="14630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ADR-007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464040" y="14356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+ quotas no gateway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19659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</a:t>
            </a:r>
            <a:pPr indent="0" marL="0">
              <a:buNone/>
            </a:pPr>
            <a:r>
              <a:rPr lang="en-US" sz="13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client_credentials, JWT de 15 min, escopos, quota por cliente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06324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Descartado: </a:t>
            </a:r>
            <a:pPr indent="0" marL="0">
              <a:buNone/>
            </a:pPr>
            <a:r>
              <a:rPr lang="en-US" sz="13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estática (sem expiração nem escopo); mTLS para todos (operação pesada)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ADR-005 está como Proposto: depende de parecer jurídico do País 2.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2B"/>
                </a:solidFill>
              </a:rPr>
              <a:t>Resiliência: como evitar o efeito cascata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0F5F5C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258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66420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ms no Catálogo (sem retry interno), 2 s no gateway, 5 s no webhook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404872"/>
            <a:ext cx="457200" cy="457200"/>
          </a:xfrm>
          <a:prstGeom prst="ellipse">
            <a:avLst/>
          </a:prstGeom>
          <a:solidFill>
            <a:srgbClr val="0F5F5C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31343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com backoff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65176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em operação idempotente, com teto e jitter. Uma camada só repete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92424"/>
            <a:ext cx="457200" cy="457200"/>
          </a:xfrm>
          <a:prstGeom prst="ellipse">
            <a:avLst/>
          </a:prstGeom>
          <a:solidFill>
            <a:srgbClr val="0F5F5C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300984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63931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com 50% de falha em 20 chamadas; meio-aberto após 30 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379976"/>
            <a:ext cx="457200" cy="457200"/>
          </a:xfrm>
          <a:prstGeom prst="ellipse">
            <a:avLst/>
          </a:prstGeom>
          <a:solidFill>
            <a:srgbClr val="0F5F5C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288536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Bulkhead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626864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separado para criar e consultar; fila e worker por parceiro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367528"/>
            <a:ext cx="457200" cy="457200"/>
          </a:xfrm>
          <a:prstGeom prst="ellipse">
            <a:avLst/>
          </a:prstGeom>
          <a:solidFill>
            <a:srgbClr val="0F5F5C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527608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Degradação controlada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5614416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fora → último preço em cache por até 15 min; sem cache → 503 + Retry-After. Broker fora → outbox acumula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1280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de latência (p95)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737360"/>
          <a:ext cx="429768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F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 (TLS, token, quota)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Leitura da chave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Catálogo em lote (sem cache, sem retry)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Serialização e rede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  <p:sp>
        <p:nvSpPr>
          <p:cNvPr id="25" name="Text 22"/>
          <p:cNvSpPr txBox="1"/>
          <p:nvPr/>
        </p:nvSpPr>
        <p:spPr>
          <a:xfrm>
            <a:off x="7315200" y="43434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Pior caso 300 ms: sobram 200 ms para a meta de 500 ms. Com cache quente, o Catálogo cai para menos de 5 ms.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2B"/>
                </a:solidFill>
              </a:rPr>
              <a:t>Segurança e LGPD: threat model (STRIDE)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474720"/>
                <a:gridCol w="4690872"/>
                <a:gridCol w="1371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Ameaça principal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F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Vazamento de client_secret do parceiro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de 15 min, rotação, escopo mínimo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dias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pública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Parceiro lê pedido de outro (BOLA)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Autorização por recurso, 404 para pedido alheio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dias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pública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Replay para duplicar pedido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Idempotency-Key por cliente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pública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 manipulado no payload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 nunca vem do cliente: vem do Catálogo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 pessoal fora do país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Célula por país; eventos e logs só com IDs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dias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Webhook falso em nosso nome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HMAC com timestamp, janela de 5 min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dias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Dependências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SSRF pela URL de webhook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HTTPS, bloqueio de IP privado, egress controlado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dias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ameaças mapeadas em docs/05-threat-model.md. LGPD: exclusão por pseudonimização, mantendo o registro fiscal.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2B"/>
                </a:solidFill>
              </a:rPr>
              <a:t>Plano 30 / 60 / 90 dias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822960" cy="822960"/>
          </a:xfrm>
          <a:prstGeom prst="ellipse">
            <a:avLst/>
          </a:prstGeom>
          <a:solidFill>
            <a:srgbClr val="C77A0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4630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Parar de errar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60604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Idempotency-Key opcional no /v1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de preço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na transação (dual write)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e SLOs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/v2 implantado, fechado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1371600"/>
            <a:ext cx="822960" cy="822960"/>
          </a:xfrm>
          <a:prstGeom prst="ellipse">
            <a:avLst/>
          </a:prstGeom>
          <a:solidFill>
            <a:srgbClr val="0F5F5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34840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4630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e abrir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43400" y="246888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26280" y="260604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em lote + cache + CB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da outbox + broker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OAuth2, quotas, /v1 e /v2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em produção no /v2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com parceiros piloto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0" y="1371600"/>
            <a:ext cx="822960" cy="822960"/>
          </a:xfrm>
          <a:prstGeom prst="ellipse">
            <a:avLst/>
          </a:prstGeom>
          <a:solidFill>
            <a:srgbClr val="0F5F5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0" y="1371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146304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Expandir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38160" y="2468880"/>
            <a:ext cx="3520440" cy="2651760"/>
          </a:xfrm>
          <a:prstGeom prst="roundRect">
            <a:avLst>
              <a:gd name="adj" fmla="val 2759"/>
            </a:avLst>
          </a:prstGeom>
          <a:solidFill>
            <a:srgbClr val="F4F8F7"/>
          </a:solidFill>
          <a:ln w="12700">
            <a:solidFill>
              <a:srgbClr val="F4F8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0" y="260604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 2: coluna de país ou célula mínima (parecer)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Parceiros em produção com quotas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Depreciação do /v1 anunciada (≥ 6 meses)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394960"/>
            <a:ext cx="11094415" cy="640080"/>
          </a:xfrm>
          <a:prstGeom prst="roundRect">
            <a:avLst>
              <a:gd name="adj" fmla="val 11429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539496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Rollback: toda entrega atrás de feature flag. Migrações só aditivas. Dupla publicação até o último consumidor migrar.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2B"/>
                </a:solidFill>
              </a:rPr>
              <a:t>A prova: um comando, 52 testes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14232B"/>
          </a:solidFill>
          <a:ln w="12700">
            <a:solidFill>
              <a:srgbClr val="14232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2801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FD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test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231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sintéticos em data/catalogo-sintetico.json. SQLite, sem Docker.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08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(GitHub Actions)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2044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 testes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Spectral: lint da OpenAPI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AsyncAPI CLI: valida o schema de status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oasdiff: barra breaking change no contrato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NetArchTest: regras de camadas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Checagem de ADRs e exceções vencidas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280160"/>
          <a:ext cx="566928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teste prova que…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F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Mesma chave + mesmo payload devolve o pedido original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Mesma chave + payload diferente → 422, nada criado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sem chave → 400, nada criado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Chamadas concorrentes com a mesma chave → 1 pedido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Consumidor web atual cria e consulta no v1 como antes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sem chave mantém o comportamento antigo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 vai para a outbox junto com o pedido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Replay e requisição rejeitada não geram evento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Eventos não carregam dado pessoal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2B"/>
                </a:solidFill>
              </a:rPr>
              <a:t>Trade-offs aceitos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023360"/>
                <a:gridCol w="377647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Escolha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ganhamos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aceito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F5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Chave no banco, não em cache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Garantia na mesma transação do pedido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escrita a mais por criação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Outbox, não publicação direta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 existe se e só se o pedido existe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Atraso de segundos no evento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Versão na URL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Roteamento, métrica e desligamento simples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Duas versões ativas por ≥ 6 meses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Célula por país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Residência sem trocar de banco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+60% a 80% de infraestrutura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 do momento do pedido + cache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Latência estável e auditoria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 até 60 s defasado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Evoluir, não reescrever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 em 30 dias, risco baixo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Convive com parte do legado por mais tempo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2B"/>
                </a:solidFill>
              </a:rPr>
              <a:t>IA: assistente de consulta para o atendimento</a:t>
            </a:r>
            <a:endParaRPr lang="en-US" sz="3000" dirty="0"/>
          </a:p>
        </p:txBody>
      </p:sp>
      <p:pic>
        <p:nvPicPr>
          <p:cNvPr id="3" name="diagrama-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60545"/>
            <a:ext cx="6309360" cy="2639630"/>
          </a:xfrm>
          <a:prstGeom prst="rect">
            <a:avLst/>
          </a:prstGeom>
        </p:spPr>
      </p:pic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1280160"/>
          <a:ext cx="44805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F5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orquestrador por célula, modelo na mesma região, sem retenção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Minimização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Nome, documento e endereço nunca vão para o prompt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ferramentas de leitura; dado de pedido nunca vira instrução; sem fonte, responde "não sei"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Avaliação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2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perguntas sintéticas; exatidão ≥ 90%, 0 vazamento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7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4800600"/>
            <a:ext cx="6309360" cy="1188720"/>
          </a:xfrm>
          <a:prstGeom prst="roundRect">
            <a:avLst>
              <a:gd name="adj" fmla="val 6154"/>
            </a:avLst>
          </a:prstGeom>
          <a:solidFill>
            <a:srgbClr val="E6F2EF"/>
          </a:solidFill>
          <a:ln w="12700">
            <a:solidFill>
              <a:srgbClr val="E6F2EF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77240" y="48920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IA neste desafio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777240" y="52578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Prompts, validações e decisões rejeitadas estão em docs/uso-de-ia.md. Toda saída foi conferida contra o requisito e pelos testes.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32B"/>
                </a:solidFill>
              </a:rPr>
              <a:t>Investimento, riscos e o que depende do cliente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~116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pessoa-dia na fase de 30 dias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~R$ 155 mil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estimado da fase 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148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5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~5,5 FTE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8006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arquiteto, TL, 2 devs, QA, SRE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06240" y="128016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34840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187452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Tráfego real desconhecido (premissa 20 → 200 criações/s)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residência do 2º país indefinida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Consumidores de eventos não mapeados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demorar a mandar a chave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280160"/>
            <a:ext cx="3593592" cy="3291840"/>
          </a:xfrm>
          <a:prstGeom prst="roundRect">
            <a:avLst>
              <a:gd name="adj" fmla="val 222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7532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7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com o cliente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1874520"/>
            <a:ext cx="3154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de tráfego e contrato v1 real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 e parecer jurídico (LGPD + lei local)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do momento do pedido, cache de 60 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Retenção da chave em 24 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Nuvem, broker e gateway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4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 taxa da estimativa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6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2103120"/>
            <a:ext cx="777240" cy="777240"/>
          </a:xfrm>
          <a:prstGeom prst="ellipse">
            <a:avLst/>
          </a:prstGeom>
          <a:solidFill>
            <a:srgbClr val="0F5F5C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2103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21031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3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Parar de errar: idempotência, snapshot e outbox, com o contrato atual intacto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777240" cy="777240"/>
          </a:xfrm>
          <a:prstGeom prst="ellipse">
            <a:avLst/>
          </a:prstGeom>
          <a:solidFill>
            <a:srgbClr val="0F5F5C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246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32461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3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e abrir: Catálogo em lote, broker, gateway, app no /v2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4389120"/>
            <a:ext cx="777240" cy="777240"/>
          </a:xfrm>
          <a:prstGeom prst="ellipse">
            <a:avLst/>
          </a:prstGeom>
          <a:solidFill>
            <a:srgbClr val="0F5F5C"/>
          </a:solidFill>
          <a:ln w="12700">
            <a:solidFill>
              <a:srgbClr val="0F5F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389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43891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3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Expandir: segundo país (célula mínima só se a lei exigir) e parceiros em produção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reescrita, sem janela de indisponibilidade, e a decisão mais arriscada já está provada em código.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Pedidos e Catálogo – evolução arquitetural</dc:title>
  <dc:subject>PptxGenJS Presentation</dc:subject>
  <dc:creator>PptxGenJS</dc:creator>
  <cp:lastModifiedBy>PptxGenJS</cp:lastModifiedBy>
  <cp:revision>1</cp:revision>
  <dcterms:created xsi:type="dcterms:W3CDTF">2026-10-21T22:06:16Z</dcterms:created>
  <dcterms:modified xsi:type="dcterms:W3CDTF">2026-10-21T22:06:16Z</dcterms:modified>
</cp:coreProperties>
</file>